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Lato Light"/>
      <p:regular r:id="rId31"/>
      <p:bold r:id="rId32"/>
      <p:italic r:id="rId33"/>
      <p:boldItalic r:id="rId34"/>
    </p:embeddedFont>
    <p:embeddedFont>
      <p:font typeface="Lato Black"/>
      <p:bold r:id="rId35"/>
      <p:boldItalic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IBM Plex Mono"/>
      <p:regular r:id="rId41"/>
      <p:bold r:id="rId42"/>
      <p:italic r:id="rId43"/>
      <p:boldItalic r:id="rId44"/>
    </p:embeddedFont>
    <p:embeddedFont>
      <p:font typeface="Open Sans Ligh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tchell Shiell"/>
  <p:cmAuthor clrIdx="1" id="1" initials="" lastIdx="1" name="Justin Richardss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4BD3F9-1B68-4222-8185-10BBADA7031B}">
  <a:tblStyle styleId="{414BD3F9-1B68-4222-8185-10BBADA703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3.xml"/><Relationship Id="rId42" Type="http://schemas.openxmlformats.org/officeDocument/2006/relationships/font" Target="fonts/IBMPlexMono-bold.fntdata"/><Relationship Id="rId41" Type="http://schemas.openxmlformats.org/officeDocument/2006/relationships/font" Target="fonts/IBMPlexMono-regular.fntdata"/><Relationship Id="rId22" Type="http://schemas.openxmlformats.org/officeDocument/2006/relationships/slide" Target="slides/slide15.xml"/><Relationship Id="rId44" Type="http://schemas.openxmlformats.org/officeDocument/2006/relationships/font" Target="fonts/IBMPlexMono-boldItalic.fntdata"/><Relationship Id="rId21" Type="http://schemas.openxmlformats.org/officeDocument/2006/relationships/slide" Target="slides/slide14.xml"/><Relationship Id="rId43" Type="http://schemas.openxmlformats.org/officeDocument/2006/relationships/font" Target="fonts/IBMPlexMono-italic.fntdata"/><Relationship Id="rId24" Type="http://schemas.openxmlformats.org/officeDocument/2006/relationships/slide" Target="slides/slide17.xml"/><Relationship Id="rId46" Type="http://schemas.openxmlformats.org/officeDocument/2006/relationships/font" Target="fonts/OpenSansLight-bold.fntdata"/><Relationship Id="rId23" Type="http://schemas.openxmlformats.org/officeDocument/2006/relationships/slide" Target="slides/slide16.xml"/><Relationship Id="rId45" Type="http://schemas.openxmlformats.org/officeDocument/2006/relationships/font" Target="fonts/OpenSa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OpenSansLight-boldItalic.fntdata"/><Relationship Id="rId25" Type="http://schemas.openxmlformats.org/officeDocument/2006/relationships/slide" Target="slides/slide18.xml"/><Relationship Id="rId47" Type="http://schemas.openxmlformats.org/officeDocument/2006/relationships/font" Target="fonts/OpenSansLigh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Light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4.xml"/><Relationship Id="rId33" Type="http://schemas.openxmlformats.org/officeDocument/2006/relationships/font" Target="fonts/LatoLight-italic.fntdata"/><Relationship Id="rId10" Type="http://schemas.openxmlformats.org/officeDocument/2006/relationships/slide" Target="slides/slide3.xml"/><Relationship Id="rId32" Type="http://schemas.openxmlformats.org/officeDocument/2006/relationships/font" Target="fonts/LatoLight-bold.fntdata"/><Relationship Id="rId13" Type="http://schemas.openxmlformats.org/officeDocument/2006/relationships/slide" Target="slides/slide6.xml"/><Relationship Id="rId35" Type="http://schemas.openxmlformats.org/officeDocument/2006/relationships/font" Target="fonts/LatoBlack-bold.fntdata"/><Relationship Id="rId12" Type="http://schemas.openxmlformats.org/officeDocument/2006/relationships/slide" Target="slides/slide5.xml"/><Relationship Id="rId34" Type="http://schemas.openxmlformats.org/officeDocument/2006/relationships/font" Target="fonts/LatoLight-boldItalic.fntdata"/><Relationship Id="rId15" Type="http://schemas.openxmlformats.org/officeDocument/2006/relationships/slide" Target="slides/slide8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7.xml"/><Relationship Id="rId36" Type="http://schemas.openxmlformats.org/officeDocument/2006/relationships/font" Target="fonts/LatoBlack-boldItalic.fntdata"/><Relationship Id="rId17" Type="http://schemas.openxmlformats.org/officeDocument/2006/relationships/slide" Target="slides/slide10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9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20T15:01:51.488">
    <p:pos x="505" y="1052"/>
    <p:text>Potentially layer above this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9-28T16:22:10.187">
    <p:pos x="502" y="436"/>
    <p:text>Important: this is a mental model, not something Usher will enforce out of the box: any combinations of these are possible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7c5077b07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7c5077b07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sz="1200"/>
              <a:t>Acceptance criteria at the end what </a:t>
            </a:r>
            <a:r>
              <a:rPr lang="en" sz="1200"/>
              <a:t>functionality</a:t>
            </a:r>
            <a:r>
              <a:rPr lang="en" sz="1200"/>
              <a:t> and use cases</a:t>
            </a:r>
            <a:br>
              <a:rPr lang="en" sz="1200"/>
            </a:br>
            <a:br>
              <a:rPr lang="en" sz="1200"/>
            </a:br>
            <a:r>
              <a:rPr lang="en" sz="1200"/>
              <a:t>Match between user reqs and checkboxes at the end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sz="1200"/>
              <a:t>Bringing our data platforms into a conversational interface for data discovery and biological interpretation, and beyond.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" sz="1200"/>
              <a:t>I'll start with </a:t>
            </a:r>
            <a:r>
              <a:rPr lang="en" sz="1200">
                <a:solidFill>
                  <a:schemeClr val="dk1"/>
                </a:solidFill>
              </a:rPr>
              <a:t>what Overture is and</a:t>
            </a:r>
            <a:r>
              <a:rPr lang="en" sz="1200"/>
              <a:t> how we got here, then the opportunity we saw in connecting our search API to large language models through MCP, and how it works for a real user, and finish with where we're taking it next.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200"/>
          </a:p>
        </p:txBody>
      </p:sp>
      <p:sp>
        <p:nvSpPr>
          <p:cNvPr id="77" name="Google Shape;77;g3f7c5077b07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455a85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a455a85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We're the Genome Informatics group. We specialize in building software that enables researchers to connect and collaborate over shared data, and we have a lot of experience doing this.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host a large portfolio of projects, and one reason we're able to do that is because for every project we commit a small amount of our development effort to reusable components, which we then reuse in future projects to be more efficient and build more robust platforms.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culmination of that reusable development effort has led us to…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1231f0b9c4fb739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1231f0b9c4fb739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We're the Genome Informatics group. We specialize in building software that enables researchers to connect and collaborate over shared data, and we have a lot of experience doing this.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host a large portfolio of projects, and one reason we're able to do that is because for every project we commit a small amount of our development effort to reusable components, which we then reuse in future projects to be more efficient and build more robust platforms.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culmination of that reusable development effort has led us to…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0a0f6892b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0a0f6892b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Access Manager card to Usher underneath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0a0f6892b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0a0f6892b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redevelop keycloaks existing authorization service?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Keycloak has a plugin to do authz but does not offer the level of flexibility that we will need for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granular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controls, they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roles and attributes but not Role + Attribute based access control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don’t we build on top of the keycloak authorization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That’s what we are doing but implementing it as a layer on top of keycloak rather than inside of keylcoak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Using PCGL as an example, if we are strictly tied to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keycloak’s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auth system we would not have a mechanism to integrate with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else. Part of this service is writing an adapter we want to make sure that service is portable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third party tool or library that will provide this level or functionality (nothing we can build on and extend)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No, not out of the box, and not anything sustainably maintained, comparison of software tools.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design currently takes into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ga4gh passports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09ccc6ce04_1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09ccc6ce04_1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a0f6892bf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0a0f6892bf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0a0f6892bf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0a0f6892bf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How is record defined?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 record in a heart </a:t>
            </a:r>
            <a:r>
              <a:rPr lang="en" sz="1200">
                <a:solidFill>
                  <a:schemeClr val="dk1"/>
                </a:solidFill>
              </a:rPr>
              <a:t>study is individuals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Name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Age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… Clinical data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Validation/Enforcement of the grants/permission against the arranger configurations against the data itself?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Balance of ease of use and flexibility of definitions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Model category vs resource, how it applies a user who wants x data (males over 50)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How do you make sure there is no overlap between open and controlled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09ccc6ce04_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09ccc6ce04_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a0f6892b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0a0f6892b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231f0b9c4fb73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1231f0b9c4fb73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DAC - based on attributes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DAC -based on studies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Both are possible with this implementation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Data as of a date (within design but not implementation priority)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Clarify </a:t>
            </a:r>
            <a:r>
              <a:rPr b="1" lang="en" sz="1200">
                <a:solidFill>
                  <a:schemeClr val="dk1"/>
                </a:solidFill>
              </a:rPr>
              <a:t>Categories</a:t>
            </a:r>
            <a:r>
              <a:rPr b="1" lang="en" sz="1200">
                <a:solidFill>
                  <a:schemeClr val="dk1"/>
                </a:solidFill>
              </a:rPr>
              <a:t> vs resources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40a0f6892bf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40a0f6892bf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40a0f6892bf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40a0f6892bf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0a0f6892bf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0a0f6892bf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40a0f6892bf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40a0f6892bf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09ccc6ce04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09ccc6ce04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09ccc6ce04_1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09ccc6ce04_1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409ccc6ce04_1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409ccc6ce04_1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1231f0b9c4fb739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1231f0b9c4fb739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easiest part of the model to hold in mind.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Open is anonymous, but the request still goes through Usher rather than around it, so open access is logged like everything else.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Registered is identity plus accepted terms.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Controlled is granted deliberately by the custodian or the dataset owner, dataset by dataset. In larger deployments an access committee reviews first.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line that matters is the last one. Registered never becomes sufficient for controlled data on its own.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">
  <p:cSld name="Title Slide A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797298" y="2023639"/>
            <a:ext cx="7543448" cy="161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A35"/>
              </a:buClr>
              <a:buSzPts val="800"/>
              <a:buNone/>
              <a:defRPr b="0" i="0" sz="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797344" y="996460"/>
            <a:ext cx="7543800" cy="5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A35"/>
              </a:buClr>
              <a:buSzPts val="4100"/>
              <a:buNone/>
              <a:defRPr b="0" i="0" sz="4100"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797332" y="1604704"/>
            <a:ext cx="7543414" cy="3881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64BC46"/>
              </a:buClr>
              <a:buSzPts val="2400"/>
              <a:buNone/>
              <a:defRPr b="0" i="0" sz="2400">
                <a:solidFill>
                  <a:srgbClr val="64BC4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ntent Slide">
  <p:cSld name="Blank Content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3638" y="-7706"/>
            <a:ext cx="9156341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797719" y="692524"/>
            <a:ext cx="7543447" cy="4126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0" i="0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02835" y="531299"/>
            <a:ext cx="7543448" cy="161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72A35"/>
              </a:buClr>
              <a:buSzPts val="800"/>
              <a:buNone/>
              <a:defRPr sz="8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72A35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pic>
        <p:nvPicPr>
          <p:cNvPr descr="Footer.jpg"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3638" y="4950760"/>
            <a:ext cx="9157638" cy="20597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7664210" y="4950760"/>
            <a:ext cx="1368348" cy="1904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Cancer, Solved, Together</a:t>
            </a:r>
            <a:endParaRPr sz="1100"/>
          </a:p>
        </p:txBody>
      </p:sp>
      <p:sp>
        <p:nvSpPr>
          <p:cNvPr id="60" name="Google Shape;60;p14"/>
          <p:cNvSpPr txBox="1"/>
          <p:nvPr/>
        </p:nvSpPr>
        <p:spPr>
          <a:xfrm>
            <a:off x="111442" y="4959417"/>
            <a:ext cx="3900829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ONTARIO INSTITUTE FOR CANCER RESEARCH</a:t>
            </a:r>
            <a:endParaRPr sz="1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43504" y="1970696"/>
            <a:ext cx="7886700" cy="435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855722" y="2571750"/>
            <a:ext cx="723810" cy="0"/>
          </a:xfrm>
          <a:prstGeom prst="straightConnector1">
            <a:avLst/>
          </a:prstGeom>
          <a:noFill/>
          <a:ln cap="rnd" cmpd="sng" w="57150">
            <a:solidFill>
              <a:srgbClr val="4DC7F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Team">
  <p:cSld name="Our Team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4015249" y="0"/>
            <a:ext cx="5128751" cy="5143499"/>
          </a:xfrm>
          <a:prstGeom prst="rect">
            <a:avLst/>
          </a:prstGeom>
          <a:solidFill>
            <a:srgbClr val="64BC46"/>
          </a:solidFill>
          <a:ln cap="flat" cmpd="sng" w="12700">
            <a:solidFill>
              <a:srgbClr val="64BC4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6"/>
          <p:cNvCxnSpPr/>
          <p:nvPr/>
        </p:nvCxnSpPr>
        <p:spPr>
          <a:xfrm>
            <a:off x="722228" y="2538279"/>
            <a:ext cx="723810" cy="0"/>
          </a:xfrm>
          <a:prstGeom prst="straightConnector1">
            <a:avLst/>
          </a:prstGeom>
          <a:noFill/>
          <a:ln cap="rnd" cmpd="sng" w="57150">
            <a:solidFill>
              <a:srgbClr val="64BC4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/>
        </p:nvSpPr>
        <p:spPr>
          <a:xfrm>
            <a:off x="611872" y="2768382"/>
            <a:ext cx="2919998" cy="11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>
                <a:solidFill>
                  <a:srgbClr val="272A35"/>
                </a:solidFill>
                <a:latin typeface="Calibri"/>
                <a:ea typeface="Calibri"/>
                <a:cs typeface="Calibri"/>
                <a:sym typeface="Calibri"/>
              </a:rPr>
              <a:t>Creating and promoting big data tools for those advancing the knowledge and treatment of cancer.</a:t>
            </a:r>
            <a:endParaRPr sz="1100"/>
          </a:p>
        </p:txBody>
      </p:sp>
      <p:pic>
        <p:nvPicPr>
          <p:cNvPr descr="A picture containing text, gauge&#10;&#10;Description automatically generated" id="68" name="Google Shape;6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1873" y="1315227"/>
            <a:ext cx="2581664" cy="8398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6"/>
          <p:cNvGraphicFramePr/>
          <p:nvPr/>
        </p:nvGraphicFramePr>
        <p:xfrm>
          <a:off x="4281934" y="158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{414BD3F9-1B68-4222-8185-10BBADA7031B}</a:tableStyleId>
              </a:tblPr>
              <a:tblGrid>
                <a:gridCol w="1389675"/>
                <a:gridCol w="1487775"/>
                <a:gridCol w="1717900"/>
              </a:tblGrid>
              <a:tr h="43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Lato Black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Mélanie Courtot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Lato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Director &amp; Principal Investigator</a:t>
                      </a:r>
                      <a:endParaRPr sz="1100"/>
                    </a:p>
                  </a:txBody>
                  <a:tcPr marT="34300" marB="34300" marR="62350" marL="623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Lato Black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Lincoln Stein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Scientific Director (Acting), and Head, Adaptive Oncology</a:t>
                      </a:r>
                      <a:endParaRPr/>
                    </a:p>
                  </a:txBody>
                  <a:tcPr marT="34300" marB="34300" marR="62350" marL="623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Alexis Li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 Analyst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Henrich Feher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DevOps</a:t>
                      </a:r>
                      <a:endParaRPr b="0" i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Mitchell Shiell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Lato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Manager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Andres Melani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PhD Student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James Lopez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Developer</a:t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Omar Alawamry</a:t>
                      </a:r>
                      <a:endParaRPr b="1" i="0" sz="9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Masters Student</a:t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Ann Catton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Developer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Jochen Weile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Scientific Associate I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Patrick Dos Santos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UI/UX Designer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Brandon Chan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 Analyst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Jon Eubank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Associate Technical Director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Rakesh Mistry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Developer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Dan DeMaria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Developer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Justin Richardsson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Associate Technical Director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Robin Haw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 Manager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Edmund Su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Bioinformatician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Leonardo Rivera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Developer</a:t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Samantha Rich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Developer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Hardeep Nahal-Bose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Bioinformatician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Linda Xiang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Bioinformatician</a:t>
                      </a:r>
                      <a:endParaRPr b="0" i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Tony Junli Yu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Master’s Student</a:t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Lato"/>
                        <a:buNone/>
                      </a:pPr>
                      <a:r>
                        <a:rPr b="1" i="0" lang="en" sz="900" u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Yelizar Alturmessov</a:t>
                      </a:r>
                      <a:endParaRPr b="1" i="0" sz="9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Lato"/>
                        <a:buNone/>
                      </a:pPr>
                      <a:r>
                        <a:rPr b="0" lang="en" sz="8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DevOps</a:t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i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34300" marB="34300" marR="62350" marL="62350"/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ndingPage_OptionA_V3.jpg"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56" y="0"/>
            <a:ext cx="913047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/>
          <p:nvPr/>
        </p:nvSpPr>
        <p:spPr>
          <a:xfrm>
            <a:off x="1861400" y="3822294"/>
            <a:ext cx="327283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Funding provided by the </a:t>
            </a:r>
            <a:b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Government of Ontario.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73" name="Google Shape;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99" y="3702658"/>
            <a:ext cx="1406093" cy="56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5.jp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 rotWithShape="1">
          <a:blip r:embed="rId3">
            <a:alphaModFix/>
          </a:blip>
          <a:srcRect b="45257" l="0" r="22378" t="-637"/>
          <a:stretch/>
        </p:blipFill>
        <p:spPr>
          <a:xfrm>
            <a:off x="3608975" y="1186625"/>
            <a:ext cx="5535025" cy="39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444010" y="763334"/>
            <a:ext cx="75438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4CC6F1"/>
              </a:buClr>
              <a:buSzPts val="4500"/>
              <a:buNone/>
            </a:pPr>
            <a:r>
              <a:rPr b="1" lang="en" sz="4500">
                <a:solidFill>
                  <a:srgbClr val="4CC6F1"/>
                </a:solidFill>
                <a:latin typeface="Lato"/>
                <a:ea typeface="Lato"/>
                <a:cs typeface="Lato"/>
                <a:sym typeface="Lato"/>
              </a:rPr>
              <a:t>Product Overview</a:t>
            </a:r>
            <a:endParaRPr sz="1100"/>
          </a:p>
        </p:txBody>
      </p:sp>
      <p:sp>
        <p:nvSpPr>
          <p:cNvPr id="81" name="Google Shape;81;p18"/>
          <p:cNvSpPr txBox="1"/>
          <p:nvPr>
            <p:ph idx="3" type="body"/>
          </p:nvPr>
        </p:nvSpPr>
        <p:spPr>
          <a:xfrm>
            <a:off x="438989" y="1635659"/>
            <a:ext cx="7920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</a:pPr>
            <a:r>
              <a:rPr b="1" lang="en" sz="2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Access Manager: Usher </a:t>
            </a:r>
            <a:endParaRPr b="1" sz="21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rgbClr val="3F3F3F"/>
              </a:buClr>
              <a:buSzPts val="2100"/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872800" y="2856600"/>
            <a:ext cx="32949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0E101A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GitHub.com</a:t>
            </a: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/Overture-Stack/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Usher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101A"/>
                </a:solidFill>
                <a:latin typeface="Calibri"/>
                <a:ea typeface="Calibri"/>
                <a:cs typeface="Calibri"/>
                <a:sym typeface="Calibri"/>
              </a:rPr>
              <a:t>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alibri"/>
                <a:ea typeface="Calibri"/>
                <a:cs typeface="Calibri"/>
                <a:sym typeface="Calibri"/>
              </a:rPr>
              <a:t>Justin Richardsson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032" y="3469419"/>
            <a:ext cx="311483" cy="311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yellow circle with a cat on it&#10;&#10;Description automatically generated with low confidence" id="84" name="Google Shape;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032" y="2898181"/>
            <a:ext cx="311483" cy="33223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424360" y="357941"/>
            <a:ext cx="579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September 2026</a:t>
            </a:r>
            <a:endParaRPr sz="11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44011" y="4609353"/>
            <a:ext cx="6888838" cy="1869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1100"/>
              <a:buFont typeface="Arial"/>
              <a:buNone/>
            </a:pPr>
            <a:r>
              <a:rPr b="1" i="0" lang="en" sz="1100" u="none">
                <a:solidFill>
                  <a:srgbClr val="272A3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Presented By</a:t>
            </a:r>
            <a:r>
              <a:rPr b="1" lang="en" sz="1100">
                <a:solidFill>
                  <a:srgbClr val="272A3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endParaRPr b="1" i="0" sz="1100" u="none">
              <a:solidFill>
                <a:srgbClr val="272A3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075" y="2144633"/>
            <a:ext cx="1544975" cy="4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976" y="3927513"/>
            <a:ext cx="1718100" cy="599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975" y="3146737"/>
            <a:ext cx="1544975" cy="37851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2701925" y="2111725"/>
            <a:ext cx="5665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“To be OCAP compliant we need to be able to restrict the subset of Indigenous data in a platform to only users authorized to view that data”</a:t>
            </a:r>
            <a:endParaRPr i="1" sz="1200"/>
          </a:p>
        </p:txBody>
      </p:sp>
      <p:sp>
        <p:nvSpPr>
          <p:cNvPr id="96" name="Google Shape;96;p19"/>
          <p:cNvSpPr txBox="1"/>
          <p:nvPr/>
        </p:nvSpPr>
        <p:spPr>
          <a:xfrm>
            <a:off x="2701925" y="2892323"/>
            <a:ext cx="5665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“</a:t>
            </a:r>
            <a:r>
              <a:rPr i="1" lang="en" sz="1200">
                <a:solidFill>
                  <a:schemeClr val="dk1"/>
                </a:solidFill>
              </a:rPr>
              <a:t>To support conversational discovery over controlled ARGO data, the Arranger Search API must enforce per-user, record-level authorization on every query issued through the MCP server.</a:t>
            </a:r>
            <a:r>
              <a:rPr i="1" lang="en" sz="1200">
                <a:solidFill>
                  <a:schemeClr val="dk1"/>
                </a:solidFill>
              </a:rPr>
              <a:t>”</a:t>
            </a:r>
            <a:endParaRPr i="1" sz="1200"/>
          </a:p>
        </p:txBody>
      </p:sp>
      <p:sp>
        <p:nvSpPr>
          <p:cNvPr id="97" name="Google Shape;97;p19"/>
          <p:cNvSpPr txBox="1"/>
          <p:nvPr/>
        </p:nvSpPr>
        <p:spPr>
          <a:xfrm>
            <a:off x="2701925" y="3873425"/>
            <a:ext cx="5665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</a:rPr>
              <a:t>“Legal privacy requirements for PI/PHI data mandate least-privilege access, restricting both the number of users and the scope of data each can access, requiring granular authorization rules” </a:t>
            </a:r>
            <a:endParaRPr i="1" sz="1200"/>
          </a:p>
        </p:txBody>
      </p:sp>
      <p:sp>
        <p:nvSpPr>
          <p:cNvPr id="98" name="Google Shape;98;p19"/>
          <p:cNvSpPr txBox="1"/>
          <p:nvPr/>
        </p:nvSpPr>
        <p:spPr>
          <a:xfrm>
            <a:off x="823075" y="1249125"/>
            <a:ext cx="7027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</a:t>
            </a:r>
            <a:r>
              <a:rPr b="1" lang="en" sz="1600">
                <a:solidFill>
                  <a:schemeClr val="dk1"/>
                </a:solidFill>
              </a:rPr>
              <a:t>hen access conditions can vary record by record,</a:t>
            </a:r>
            <a:r>
              <a:rPr b="1" lang="en" sz="1600"/>
              <a:t> h</a:t>
            </a:r>
            <a:r>
              <a:rPr b="1" lang="en" sz="1600"/>
              <a:t>ow do we ensure each person sees only the data they're authorized to see.</a:t>
            </a:r>
            <a:endParaRPr b="1" sz="1600"/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802835" y="5312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100" name="Google Shape;100;p19"/>
          <p:cNvSpPr txBox="1"/>
          <p:nvPr/>
        </p:nvSpPr>
        <p:spPr>
          <a:xfrm>
            <a:off x="797719" y="692523"/>
            <a:ext cx="48087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Fundamental</a:t>
            </a: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Problem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823075" y="1249125"/>
            <a:ext cx="740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This presentation covers only the policy </a:t>
            </a:r>
            <a:r>
              <a:rPr b="1" lang="en" sz="1600">
                <a:solidFill>
                  <a:schemeClr val="dk1"/>
                </a:solidFill>
              </a:rPr>
              <a:t>definitions and their enforcement.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802835" y="5312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108" name="Google Shape;108;p20"/>
          <p:cNvSpPr txBox="1"/>
          <p:nvPr/>
        </p:nvSpPr>
        <p:spPr>
          <a:xfrm>
            <a:off x="797719" y="692523"/>
            <a:ext cx="48087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Fundamental Problem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o Are You Meme • 500+ reels on Instagram"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749" y="1358352"/>
            <a:ext cx="512330" cy="9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/>
          <p:nvPr/>
        </p:nvSpPr>
        <p:spPr>
          <a:xfrm>
            <a:off x="6581175" y="2161125"/>
            <a:ext cx="2029200" cy="1970700"/>
          </a:xfrm>
          <a:prstGeom prst="roundRect">
            <a:avLst>
              <a:gd fmla="val 4453" name="adj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8885" y="2519653"/>
            <a:ext cx="1395874" cy="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802825" y="1671375"/>
            <a:ext cx="56031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Can we flexibly (as permissive as </a:t>
            </a:r>
            <a:r>
              <a:rPr b="1" lang="en" sz="1600">
                <a:solidFill>
                  <a:schemeClr val="dk1"/>
                </a:solidFill>
              </a:rPr>
              <a:t>possible</a:t>
            </a:r>
            <a:r>
              <a:rPr b="1" lang="en" sz="1600">
                <a:solidFill>
                  <a:schemeClr val="dk1"/>
                </a:solidFill>
              </a:rPr>
              <a:t>) </a:t>
            </a:r>
            <a:r>
              <a:rPr b="1" lang="en" sz="1600">
                <a:solidFill>
                  <a:srgbClr val="9900FF"/>
                </a:solidFill>
              </a:rPr>
              <a:t>and sustainably (admins can manage it)</a:t>
            </a:r>
            <a:r>
              <a:rPr b="1" lang="en" sz="1600">
                <a:solidFill>
                  <a:schemeClr val="dk1"/>
                </a:solidFill>
              </a:rPr>
              <a:t> control access on filtered </a:t>
            </a:r>
            <a:r>
              <a:rPr b="1" i="1" lang="en" sz="1600">
                <a:solidFill>
                  <a:schemeClr val="dk1"/>
                </a:solidFill>
              </a:rPr>
              <a:t>Arranger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b="1" i="1" lang="en" sz="1600">
                <a:solidFill>
                  <a:schemeClr val="dk1"/>
                </a:solidFill>
              </a:rPr>
              <a:t>search</a:t>
            </a:r>
            <a:r>
              <a:rPr b="1" lang="en" sz="1600">
                <a:solidFill>
                  <a:schemeClr val="dk1"/>
                </a:solidFill>
              </a:rPr>
              <a:t> responses?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i="1" lang="en">
                <a:solidFill>
                  <a:schemeClr val="dk1"/>
                </a:solidFill>
              </a:rPr>
              <a:t>What access conditions are attach to this record?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i="1" lang="en">
                <a:solidFill>
                  <a:schemeClr val="dk1"/>
                </a:solidFill>
              </a:rPr>
              <a:t>Who is asking, and what have they been granted?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i="1" lang="en">
                <a:solidFill>
                  <a:schemeClr val="dk1"/>
                </a:solidFill>
              </a:rPr>
              <a:t>Are those grants still valid right now?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i="1" lang="en">
                <a:solidFill>
                  <a:schemeClr val="dk1"/>
                </a:solidFill>
              </a:rPr>
              <a:t>Would every application in the platform answer the same way?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i="1" lang="en">
                <a:solidFill>
                  <a:schemeClr val="dk1"/>
                </a:solidFill>
              </a:rPr>
              <a:t>Can this decision be reconstructed later?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i="1" lang="en">
                <a:solidFill>
                  <a:schemeClr val="dk1"/>
                </a:solidFill>
              </a:rPr>
              <a:t>What happens when the answer cannot be determined?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>
            <p:ph idx="2" type="body"/>
          </p:nvPr>
        </p:nvSpPr>
        <p:spPr>
          <a:xfrm>
            <a:off x="802835" y="5312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119" name="Google Shape;119;p21"/>
          <p:cNvSpPr txBox="1"/>
          <p:nvPr/>
        </p:nvSpPr>
        <p:spPr>
          <a:xfrm>
            <a:off x="797719" y="692523"/>
            <a:ext cx="48087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Core Questions</a:t>
            </a:r>
            <a:endParaRPr sz="110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7935" y="2886338"/>
            <a:ext cx="1657775" cy="7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97425" y="1910132"/>
            <a:ext cx="1396693" cy="49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6986933" y="3570884"/>
            <a:ext cx="12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What can you see or do? </a:t>
            </a:r>
            <a:endParaRPr b="1" sz="700"/>
          </a:p>
        </p:txBody>
      </p:sp>
      <p:sp>
        <p:nvSpPr>
          <p:cNvPr id="123" name="Google Shape;123;p21"/>
          <p:cNvSpPr txBox="1"/>
          <p:nvPr/>
        </p:nvSpPr>
        <p:spPr>
          <a:xfrm>
            <a:off x="7875404" y="1316482"/>
            <a:ext cx="51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Who are you?</a:t>
            </a:r>
            <a:endParaRPr b="1" sz="700"/>
          </a:p>
        </p:txBody>
      </p:sp>
      <p:sp>
        <p:nvSpPr>
          <p:cNvPr id="124" name="Google Shape;124;p21"/>
          <p:cNvSpPr/>
          <p:nvPr/>
        </p:nvSpPr>
        <p:spPr>
          <a:xfrm>
            <a:off x="6367675" y="1145525"/>
            <a:ext cx="2395200" cy="3138600"/>
          </a:xfrm>
          <a:prstGeom prst="roundRect">
            <a:avLst>
              <a:gd fmla="val 4453" name="adj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6273765" y="685800"/>
            <a:ext cx="2586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00FF"/>
                </a:solidFill>
              </a:rPr>
              <a:t>Permission/Admin UI?</a:t>
            </a:r>
            <a:endParaRPr b="1" sz="1500">
              <a:solidFill>
                <a:srgbClr val="9900FF"/>
              </a:solidFill>
            </a:endParaRPr>
          </a:p>
        </p:txBody>
      </p:sp>
      <p:cxnSp>
        <p:nvCxnSpPr>
          <p:cNvPr id="126" name="Google Shape;126;p21"/>
          <p:cNvCxnSpPr/>
          <p:nvPr/>
        </p:nvCxnSpPr>
        <p:spPr>
          <a:xfrm flipH="1" rot="10800000">
            <a:off x="5550425" y="996100"/>
            <a:ext cx="876000" cy="7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1055252" y="2246757"/>
            <a:ext cx="1348800" cy="1348800"/>
          </a:xfrm>
          <a:prstGeom prst="ellipse">
            <a:avLst/>
          </a:prstGeom>
          <a:solidFill>
            <a:srgbClr val="EDF6F9">
              <a:alpha val="64560"/>
            </a:srgbClr>
          </a:solidFill>
          <a:ln cap="flat" cmpd="sng" w="10250">
            <a:solidFill>
              <a:srgbClr val="4DC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80050" spcFirstLastPara="1" rIns="80050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34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1055252" y="3329882"/>
            <a:ext cx="1348800" cy="1348800"/>
          </a:xfrm>
          <a:prstGeom prst="ellipse">
            <a:avLst/>
          </a:prstGeom>
          <a:solidFill>
            <a:srgbClr val="EDF6F9">
              <a:alpha val="64560"/>
            </a:srgbClr>
          </a:solidFill>
          <a:ln cap="flat" cmpd="sng" w="10250">
            <a:solidFill>
              <a:srgbClr val="4DC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80050" spcFirstLastPara="1" rIns="80050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34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1025555" y="1256800"/>
            <a:ext cx="1348800" cy="1348800"/>
          </a:xfrm>
          <a:prstGeom prst="ellipse">
            <a:avLst/>
          </a:prstGeom>
          <a:solidFill>
            <a:srgbClr val="EDF6F9">
              <a:alpha val="64560"/>
            </a:srgbClr>
          </a:solidFill>
          <a:ln cap="flat" cmpd="sng" w="10250">
            <a:solidFill>
              <a:srgbClr val="4DC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025" lIns="80050" spcFirstLastPara="1" rIns="80050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34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2"/>
          <p:cNvCxnSpPr/>
          <p:nvPr/>
        </p:nvCxnSpPr>
        <p:spPr>
          <a:xfrm>
            <a:off x="1683875" y="2959116"/>
            <a:ext cx="1348800" cy="0"/>
          </a:xfrm>
          <a:prstGeom prst="straightConnector1">
            <a:avLst/>
          </a:prstGeom>
          <a:noFill/>
          <a:ln cap="flat" cmpd="sng" w="28575">
            <a:solidFill>
              <a:srgbClr val="163D64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36" name="Google Shape;136;p22"/>
          <p:cNvCxnSpPr/>
          <p:nvPr/>
        </p:nvCxnSpPr>
        <p:spPr>
          <a:xfrm>
            <a:off x="2029113" y="1958425"/>
            <a:ext cx="1004400" cy="0"/>
          </a:xfrm>
          <a:prstGeom prst="straightConnector1">
            <a:avLst/>
          </a:prstGeom>
          <a:noFill/>
          <a:ln cap="flat" cmpd="sng" w="28575">
            <a:solidFill>
              <a:srgbClr val="B74A89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37" name="Google Shape;137;p22"/>
          <p:cNvCxnSpPr/>
          <p:nvPr/>
        </p:nvCxnSpPr>
        <p:spPr>
          <a:xfrm>
            <a:off x="2020923" y="4023856"/>
            <a:ext cx="10044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38" name="Google Shape;138;p22"/>
          <p:cNvSpPr txBox="1"/>
          <p:nvPr/>
        </p:nvSpPr>
        <p:spPr>
          <a:xfrm>
            <a:off x="3075025" y="1613350"/>
            <a:ext cx="5934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E005D"/>
                </a:solidFill>
              </a:rPr>
              <a:t>Usher: </a:t>
            </a:r>
            <a:r>
              <a:rPr lang="en" sz="1600">
                <a:solidFill>
                  <a:schemeClr val="dk1"/>
                </a:solidFill>
              </a:rPr>
              <a:t>What can you see or do? Access grants are documented once and enforced across Overture services.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	Policy model does not exist in overture we need this.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075025" y="2721738"/>
            <a:ext cx="541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3055"/>
                </a:solidFill>
              </a:rPr>
              <a:t>Keycloak: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Who are you? Accounts, groups, sign-in.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075025" y="3793813"/>
            <a:ext cx="586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F3F3F"/>
                </a:solidFill>
              </a:rPr>
              <a:t>Ego: </a:t>
            </a:r>
            <a:r>
              <a:rPr lang="en" sz="1600">
                <a:solidFill>
                  <a:schemeClr val="dk1"/>
                </a:solidFill>
              </a:rPr>
              <a:t>Did both jobs (too much) in one service.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Jon: Not </a:t>
            </a:r>
            <a:r>
              <a:rPr lang="en" sz="1600">
                <a:solidFill>
                  <a:schemeClr val="dk1"/>
                </a:solidFill>
              </a:rPr>
              <a:t>necessary</a:t>
            </a:r>
            <a:r>
              <a:rPr lang="en" sz="1600">
                <a:solidFill>
                  <a:schemeClr val="dk1"/>
                </a:solidFill>
              </a:rPr>
              <a:t> too much for one service, we are not experts at authentication we do not want to sink valued development effort in capabilities for which we don’t need to.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Justin also offloading this leverages the interoperability of a </a:t>
            </a:r>
            <a:r>
              <a:rPr lang="en" sz="1600">
                <a:solidFill>
                  <a:schemeClr val="dk1"/>
                </a:solidFill>
              </a:rPr>
              <a:t>widely</a:t>
            </a:r>
            <a:r>
              <a:rPr lang="en" sz="1600">
                <a:solidFill>
                  <a:schemeClr val="dk1"/>
                </a:solidFill>
              </a:rPr>
              <a:t> adopted service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75" y="1460794"/>
            <a:ext cx="2238950" cy="9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286" y="2622588"/>
            <a:ext cx="1934047" cy="68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>
            <p:ph idx="2" type="body"/>
          </p:nvPr>
        </p:nvSpPr>
        <p:spPr>
          <a:xfrm>
            <a:off x="802835" y="5312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144" name="Google Shape;144;p22"/>
          <p:cNvSpPr txBox="1"/>
          <p:nvPr/>
        </p:nvSpPr>
        <p:spPr>
          <a:xfrm>
            <a:off x="797719" y="692523"/>
            <a:ext cx="48087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Division of Responsibility</a:t>
            </a:r>
            <a:endParaRPr sz="1100"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922" y="3554137"/>
            <a:ext cx="2249802" cy="9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802835" y="5312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151" name="Google Shape;151;p23"/>
          <p:cNvSpPr txBox="1"/>
          <p:nvPr/>
        </p:nvSpPr>
        <p:spPr>
          <a:xfrm>
            <a:off x="797719" y="692523"/>
            <a:ext cx="48087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Three Broad </a:t>
            </a: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Tiers</a:t>
            </a:r>
            <a:endParaRPr sz="1100"/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931800" y="1278096"/>
            <a:ext cx="7506000" cy="10359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106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  <a:effectLst>
            <a:outerShdw blurRad="148829" rotWithShape="0" algn="tl" dir="2700000" dist="31892">
              <a:srgbClr val="000000">
                <a:alpha val="21960"/>
              </a:srgbClr>
            </a:outerShdw>
          </a:effectLst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1073125" y="1431946"/>
            <a:ext cx="72303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8700" lIns="57400" spcFirstLastPara="1" rIns="57400" wrap="square" tIns="28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Open: </a:t>
            </a:r>
            <a:r>
              <a:rPr b="1"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sign-in required, publicly available open access data.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1073125" y="1697926"/>
            <a:ext cx="718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</a:t>
            </a:r>
            <a:r>
              <a:rPr lang="en" sz="1200"/>
              <a:t>he ushered application still asks Usher what an anonymous visitor may reach, and Usher still answers and records that it answered.</a:t>
            </a:r>
            <a:endParaRPr sz="1200"/>
          </a:p>
        </p:txBody>
      </p:sp>
      <p:sp>
        <p:nvSpPr>
          <p:cNvPr id="156" name="Google Shape;156;p23"/>
          <p:cNvSpPr/>
          <p:nvPr/>
        </p:nvSpPr>
        <p:spPr>
          <a:xfrm>
            <a:off x="931800" y="2484574"/>
            <a:ext cx="7506000" cy="911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106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  <a:effectLst>
            <a:outerShdw blurRad="148829" rotWithShape="0" algn="tl" dir="2700000" dist="31892">
              <a:srgbClr val="000000">
                <a:alpha val="21960"/>
              </a:srgbClr>
            </a:outerShdw>
          </a:effectLst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1073125" y="2628067"/>
            <a:ext cx="72303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8700" lIns="57400" spcFirstLastPara="1" rIns="57400" wrap="square" tIns="28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Registered</a:t>
            </a:r>
            <a:r>
              <a:rPr b="1" lang="en" sz="1500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1"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Login required to</a:t>
            </a:r>
            <a:r>
              <a:rPr b="1"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view all the data.</a:t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1073125" y="2904401"/>
            <a:ext cx="718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Users must log in and accept the platforms terms of use to view data. </a:t>
            </a:r>
            <a:endParaRPr sz="1200"/>
          </a:p>
        </p:txBody>
      </p:sp>
      <p:sp>
        <p:nvSpPr>
          <p:cNvPr id="159" name="Google Shape;159;p23"/>
          <p:cNvSpPr/>
          <p:nvPr/>
        </p:nvSpPr>
        <p:spPr>
          <a:xfrm>
            <a:off x="914575" y="3583458"/>
            <a:ext cx="7506000" cy="10359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106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  <a:effectLst>
            <a:outerShdw blurRad="148829" rotWithShape="0" algn="tl" dir="2700000" dist="31892">
              <a:srgbClr val="000000">
                <a:alpha val="21960"/>
              </a:srgbClr>
            </a:outerShdw>
          </a:effectLst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1055900" y="3737308"/>
            <a:ext cx="72303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8700" lIns="57400" spcFirstLastPara="1" rIns="57400" wrap="square" tIns="28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Controlled</a:t>
            </a:r>
            <a:r>
              <a:rPr b="1" lang="en" sz="1500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1"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Access is only granted to those with the appropriate </a:t>
            </a:r>
            <a:r>
              <a:rPr b="1" lang="en" sz="15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permissions</a:t>
            </a:r>
            <a:endParaRPr b="1" sz="15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1055900" y="3992935"/>
            <a:ext cx="718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Typically, access is granted following a data access request and a committee review and approval. The researcher once logged in sees only the fields &amp; records they’ve been approved to view. 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167" name="Google Shape;167;p24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Anatomy of a permission</a:t>
            </a:r>
            <a:endParaRPr sz="1100"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/>
          <p:nvPr/>
        </p:nvSpPr>
        <p:spPr>
          <a:xfrm>
            <a:off x="7871916" y="1802025"/>
            <a:ext cx="240300" cy="15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5467986" y="1656699"/>
            <a:ext cx="240300" cy="24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5697475" y="1366466"/>
            <a:ext cx="240300" cy="24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664825" y="1177525"/>
            <a:ext cx="4319100" cy="3564900"/>
          </a:xfrm>
          <a:prstGeom prst="roundRect">
            <a:avLst>
              <a:gd fmla="val 4549" name="adj"/>
            </a:avLst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872825" y="1279894"/>
            <a:ext cx="2354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8700" lIns="57400" spcFirstLastPara="1" rIns="57400" wrap="square" tIns="28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5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Permission</a:t>
            </a:r>
            <a:endParaRPr b="1" sz="1265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76"/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user is allowed to use a capability on a resource's categorized data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872836" y="1907908"/>
            <a:ext cx="3901800" cy="606600"/>
          </a:xfrm>
          <a:prstGeom prst="roundRect">
            <a:avLst>
              <a:gd fmla="val 16091" name="adj"/>
            </a:avLst>
          </a:prstGeom>
          <a:solidFill>
            <a:srgbClr val="F5E9EF"/>
          </a:solidFill>
          <a:ln cap="flat" cmpd="sng" w="13500">
            <a:solidFill>
              <a:srgbClr val="C51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Resource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group of records defined by a common field and value, set by the admin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872836" y="2596066"/>
            <a:ext cx="3598200" cy="606600"/>
          </a:xfrm>
          <a:prstGeom prst="roundRect">
            <a:avLst>
              <a:gd fmla="val 16091" name="adj"/>
            </a:avLst>
          </a:prstGeom>
          <a:solidFill>
            <a:srgbClr val="FCE5CB"/>
          </a:solidFill>
          <a:ln cap="flat" cmpd="sng" w="135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Category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692"/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label for identifiers inside a resource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872836" y="3284252"/>
            <a:ext cx="3210900" cy="606600"/>
          </a:xfrm>
          <a:prstGeom prst="roundRect">
            <a:avLst>
              <a:gd fmla="val 16091" name="adj"/>
            </a:avLst>
          </a:prstGeom>
          <a:solidFill>
            <a:srgbClr val="F3F3F3"/>
          </a:solidFill>
          <a:ln cap="flat" cmpd="sng" w="135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Fields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parts of a record the grant covers. </a:t>
            </a:r>
            <a:endParaRPr sz="100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91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 the MVP. Grants cover whole records.</a:t>
            </a:r>
            <a:endParaRPr b="1" sz="1000">
              <a:solidFill>
                <a:srgbClr val="E691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872836" y="3972410"/>
            <a:ext cx="2834100" cy="606600"/>
          </a:xfrm>
          <a:prstGeom prst="roundRect">
            <a:avLst>
              <a:gd fmla="val 16091" name="adj"/>
            </a:avLst>
          </a:prstGeom>
          <a:solidFill>
            <a:srgbClr val="E9F6FB"/>
          </a:solidFill>
          <a:ln cap="flat" cmpd="sng" w="13500">
            <a:solidFill>
              <a:srgbClr val="4DC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Capability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the system is able to do</a:t>
            </a:r>
            <a:endParaRPr sz="100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5193300" y="1177525"/>
            <a:ext cx="3367800" cy="1605900"/>
          </a:xfrm>
          <a:prstGeom prst="roundRect">
            <a:avLst>
              <a:gd fmla="val 4549" name="adj"/>
            </a:avLst>
          </a:prstGeom>
          <a:solidFill>
            <a:srgbClr val="2B3036"/>
          </a:solidFill>
          <a:ln>
            <a:noFill/>
          </a:ln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5261133" y="1330850"/>
            <a:ext cx="32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6C8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"HEART_STUDY"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{</a:t>
            </a:r>
            <a:endParaRPr sz="1050">
              <a:solidFill>
                <a:srgbClr val="DFE3E6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"open"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</a:t>
            </a:r>
            <a:r>
              <a:rPr lang="en" sz="1050">
                <a:solidFill>
                  <a:srgbClr val="4DC7F1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{"record": ["read"] }</a:t>
            </a:r>
            <a:endParaRPr sz="1050">
              <a:solidFill>
                <a:srgbClr val="4DC7F1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"controlled"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</a:t>
            </a:r>
            <a:r>
              <a:rPr lang="en" sz="1050">
                <a:solidFill>
                  <a:srgbClr val="4DC7F1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{"record": ["read"] 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  <a:endParaRPr sz="1050">
              <a:solidFill>
                <a:srgbClr val="DFE3E6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  <a:endParaRPr b="1" sz="800">
              <a:solidFill>
                <a:srgbClr val="4DC7F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5241788" y="2190484"/>
            <a:ext cx="325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8CED4"/>
                </a:solidFill>
                <a:highlight>
                  <a:srgbClr val="2B3036"/>
                </a:highlight>
                <a:latin typeface="Lato"/>
                <a:ea typeface="Lato"/>
                <a:cs typeface="Lato"/>
                <a:sym typeface="Lato"/>
              </a:rPr>
              <a:t>In plain language:</a:t>
            </a:r>
            <a:r>
              <a:rPr lang="en" sz="1200">
                <a:solidFill>
                  <a:srgbClr val="C8CED4"/>
                </a:solidFill>
                <a:highlight>
                  <a:srgbClr val="2B3036"/>
                </a:highlight>
                <a:latin typeface="Lato"/>
                <a:ea typeface="Lato"/>
                <a:cs typeface="Lato"/>
                <a:sym typeface="Lato"/>
              </a:rPr>
              <a:t> the open &amp; controlled records in HEART_STUDY may be read, in full.</a:t>
            </a:r>
            <a:endParaRPr sz="800"/>
          </a:p>
        </p:txBody>
      </p:sp>
      <p:cxnSp>
        <p:nvCxnSpPr>
          <p:cNvPr id="181" name="Google Shape;181;p24"/>
          <p:cNvCxnSpPr>
            <a:stCxn id="177" idx="2"/>
            <a:endCxn id="169" idx="6"/>
          </p:cNvCxnSpPr>
          <p:nvPr/>
        </p:nvCxnSpPr>
        <p:spPr>
          <a:xfrm rot="-5400000">
            <a:off x="3851236" y="317960"/>
            <a:ext cx="2699700" cy="5822400"/>
          </a:xfrm>
          <a:prstGeom prst="bentConnector4">
            <a:avLst>
              <a:gd fmla="val -8820" name="adj1"/>
              <a:gd fmla="val 104089" name="adj2"/>
            </a:avLst>
          </a:prstGeom>
          <a:noFill/>
          <a:ln cap="flat" cmpd="sng" w="19050">
            <a:solidFill>
              <a:srgbClr val="4CC6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4"/>
          <p:cNvSpPr txBox="1"/>
          <p:nvPr>
            <p:ph idx="2" type="body"/>
          </p:nvPr>
        </p:nvSpPr>
        <p:spPr>
          <a:xfrm>
            <a:off x="7759073" y="962477"/>
            <a:ext cx="8202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Permission</a:t>
            </a:r>
            <a:endParaRPr sz="1100"/>
          </a:p>
        </p:txBody>
      </p:sp>
      <p:cxnSp>
        <p:nvCxnSpPr>
          <p:cNvPr id="183" name="Google Shape;183;p24"/>
          <p:cNvCxnSpPr/>
          <p:nvPr/>
        </p:nvCxnSpPr>
        <p:spPr>
          <a:xfrm flipH="1" rot="10800000">
            <a:off x="4774636" y="1366408"/>
            <a:ext cx="1043100" cy="844800"/>
          </a:xfrm>
          <a:prstGeom prst="bentConnector4">
            <a:avLst>
              <a:gd fmla="val 29713" name="adj1"/>
              <a:gd fmla="val 127519" name="adj2"/>
            </a:avLst>
          </a:prstGeom>
          <a:noFill/>
          <a:ln cap="flat" cmpd="sng" w="19050">
            <a:solidFill>
              <a:srgbClr val="C5106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4"/>
          <p:cNvCxnSpPr/>
          <p:nvPr/>
        </p:nvCxnSpPr>
        <p:spPr>
          <a:xfrm flipH="1" rot="10800000">
            <a:off x="4471036" y="1776766"/>
            <a:ext cx="996900" cy="1122600"/>
          </a:xfrm>
          <a:prstGeom prst="bentConnector3">
            <a:avLst>
              <a:gd fmla="val 67403" name="adj1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5" name="Google Shape;1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5628" y="1216746"/>
            <a:ext cx="1108300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7871916" y="1802025"/>
            <a:ext cx="240300" cy="15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5467986" y="1656699"/>
            <a:ext cx="240300" cy="24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5697475" y="1366466"/>
            <a:ext cx="240300" cy="240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664825" y="1177525"/>
            <a:ext cx="4319100" cy="3564900"/>
          </a:xfrm>
          <a:prstGeom prst="roundRect">
            <a:avLst>
              <a:gd fmla="val 4549" name="adj"/>
            </a:avLst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872825" y="1279894"/>
            <a:ext cx="2354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8700" lIns="57400" spcFirstLastPara="1" rIns="57400" wrap="square" tIns="28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5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Permission</a:t>
            </a:r>
            <a:endParaRPr b="1" sz="1265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76"/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user is allowed to use a capability on a resource's categorized data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872836" y="1907908"/>
            <a:ext cx="3901800" cy="606600"/>
          </a:xfrm>
          <a:prstGeom prst="roundRect">
            <a:avLst>
              <a:gd fmla="val 16091" name="adj"/>
            </a:avLst>
          </a:prstGeom>
          <a:solidFill>
            <a:srgbClr val="F5E9EF"/>
          </a:solidFill>
          <a:ln cap="flat" cmpd="sng" w="13500">
            <a:solidFill>
              <a:srgbClr val="C51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Resource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group of records defined by a common field and value, set by the admin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872836" y="2596066"/>
            <a:ext cx="3598200" cy="606600"/>
          </a:xfrm>
          <a:prstGeom prst="roundRect">
            <a:avLst>
              <a:gd fmla="val 16091" name="adj"/>
            </a:avLst>
          </a:prstGeom>
          <a:solidFill>
            <a:srgbClr val="FCE5CB"/>
          </a:solidFill>
          <a:ln cap="flat" cmpd="sng" w="135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Category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692"/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label for identifiers inside a resource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872836" y="3284252"/>
            <a:ext cx="3210900" cy="606600"/>
          </a:xfrm>
          <a:prstGeom prst="roundRect">
            <a:avLst>
              <a:gd fmla="val 16091" name="adj"/>
            </a:avLst>
          </a:prstGeom>
          <a:solidFill>
            <a:srgbClr val="F3F3F3"/>
          </a:solidFill>
          <a:ln cap="flat" cmpd="sng" w="135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Fields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parts of a record the grant covers. </a:t>
            </a:r>
            <a:endParaRPr sz="100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691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 the MVP. Grants cover whole records.</a:t>
            </a:r>
            <a:endParaRPr b="1" sz="1000">
              <a:solidFill>
                <a:srgbClr val="E691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872836" y="3972410"/>
            <a:ext cx="2834100" cy="606600"/>
          </a:xfrm>
          <a:prstGeom prst="roundRect">
            <a:avLst>
              <a:gd fmla="val 16091" name="adj"/>
            </a:avLst>
          </a:prstGeom>
          <a:solidFill>
            <a:srgbClr val="E9F6FB"/>
          </a:solidFill>
          <a:ln cap="flat" cmpd="sng" w="13500">
            <a:solidFill>
              <a:srgbClr val="4DC7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" lIns="8625" spcFirstLastPara="1" rIns="8625" wrap="square" tIns="8625">
            <a:noAutofit/>
          </a:bodyPr>
          <a:lstStyle/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Capability</a:t>
            </a:r>
            <a:endParaRPr b="1"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the system is able to do</a:t>
            </a:r>
            <a:endParaRPr sz="100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5193300" y="1177525"/>
            <a:ext cx="3367800" cy="1605900"/>
          </a:xfrm>
          <a:prstGeom prst="roundRect">
            <a:avLst>
              <a:gd fmla="val 4549" name="adj"/>
            </a:avLst>
          </a:prstGeom>
          <a:solidFill>
            <a:srgbClr val="2B3036"/>
          </a:solidFill>
          <a:ln>
            <a:noFill/>
          </a:ln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5261133" y="1330850"/>
            <a:ext cx="32109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6C8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"XX_HEART_DATA"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{</a:t>
            </a:r>
            <a:endParaRPr sz="1050">
              <a:solidFill>
                <a:srgbClr val="DFE3E6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open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{</a:t>
            </a:r>
            <a:r>
              <a:rPr lang="en" sz="1050">
                <a:solidFill>
                  <a:srgbClr val="B6BCC2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"record"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[</a:t>
            </a:r>
            <a:r>
              <a:rPr lang="en" sz="1050">
                <a:solidFill>
                  <a:srgbClr val="9CC9EC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"read"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] }</a:t>
            </a:r>
            <a:endParaRPr sz="1050">
              <a:solidFill>
                <a:srgbClr val="DFE3E6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"controlled"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{</a:t>
            </a:r>
            <a:r>
              <a:rPr lang="en" sz="1050">
                <a:solidFill>
                  <a:srgbClr val="B6BCC2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"record"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[</a:t>
            </a:r>
            <a:r>
              <a:rPr lang="en" sz="1050">
                <a:solidFill>
                  <a:srgbClr val="9CC9EC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"read"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] }</a:t>
            </a:r>
            <a:endParaRPr sz="1050">
              <a:solidFill>
                <a:srgbClr val="DFE3E6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</a:t>
            </a:r>
            <a:r>
              <a:rPr lang="en" sz="1050">
                <a:solidFill>
                  <a:srgbClr val="F5C583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"over-fifty"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{</a:t>
            </a:r>
            <a:r>
              <a:rPr lang="en" sz="1050">
                <a:solidFill>
                  <a:srgbClr val="B6BCC2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"record"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: [</a:t>
            </a:r>
            <a:r>
              <a:rPr lang="en" sz="1050">
                <a:solidFill>
                  <a:srgbClr val="9CC9EC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"read"</a:t>
            </a: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] }</a:t>
            </a:r>
            <a:endParaRPr sz="1050">
              <a:solidFill>
                <a:srgbClr val="DFE3E6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FE3E6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  <a:endParaRPr b="1" sz="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5241788" y="2190484"/>
            <a:ext cx="325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8CED4"/>
                </a:solidFill>
                <a:highlight>
                  <a:srgbClr val="2B3036"/>
                </a:highlight>
                <a:latin typeface="Lato"/>
                <a:ea typeface="Lato"/>
                <a:cs typeface="Lato"/>
                <a:sym typeface="Lato"/>
              </a:rPr>
              <a:t>In plain language:</a:t>
            </a:r>
            <a:r>
              <a:rPr lang="en" sz="1200">
                <a:solidFill>
                  <a:srgbClr val="C8CED4"/>
                </a:solidFill>
                <a:highlight>
                  <a:srgbClr val="2B3036"/>
                </a:highlight>
                <a:latin typeface="Lato"/>
                <a:ea typeface="Lato"/>
                <a:cs typeface="Lato"/>
                <a:sym typeface="Lato"/>
              </a:rPr>
              <a:t> the open &amp; controlled records in HEART_STUDY may be read, in full.</a:t>
            </a:r>
            <a:endParaRPr sz="800"/>
          </a:p>
        </p:txBody>
      </p:sp>
      <p:cxnSp>
        <p:nvCxnSpPr>
          <p:cNvPr id="203" name="Google Shape;203;p25"/>
          <p:cNvCxnSpPr>
            <a:stCxn id="196" idx="3"/>
            <a:endCxn id="192" idx="0"/>
          </p:cNvCxnSpPr>
          <p:nvPr/>
        </p:nvCxnSpPr>
        <p:spPr>
          <a:xfrm flipH="1" rot="10800000">
            <a:off x="4774636" y="1366408"/>
            <a:ext cx="1043100" cy="844800"/>
          </a:xfrm>
          <a:prstGeom prst="bentConnector4">
            <a:avLst>
              <a:gd fmla="val 29713" name="adj1"/>
              <a:gd fmla="val 127519" name="adj2"/>
            </a:avLst>
          </a:prstGeom>
          <a:noFill/>
          <a:ln cap="flat" cmpd="sng" w="19050">
            <a:solidFill>
              <a:srgbClr val="C5106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5"/>
          <p:cNvCxnSpPr>
            <a:stCxn id="197" idx="3"/>
            <a:endCxn id="191" idx="2"/>
          </p:cNvCxnSpPr>
          <p:nvPr/>
        </p:nvCxnSpPr>
        <p:spPr>
          <a:xfrm flipH="1" rot="10800000">
            <a:off x="4471036" y="1776766"/>
            <a:ext cx="996900" cy="1122600"/>
          </a:xfrm>
          <a:prstGeom prst="bentConnector3">
            <a:avLst>
              <a:gd fmla="val 67403" name="adj1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5"/>
          <p:cNvCxnSpPr>
            <a:stCxn id="199" idx="2"/>
            <a:endCxn id="190" idx="6"/>
          </p:cNvCxnSpPr>
          <p:nvPr/>
        </p:nvCxnSpPr>
        <p:spPr>
          <a:xfrm rot="-5400000">
            <a:off x="3851236" y="317960"/>
            <a:ext cx="2699700" cy="5822400"/>
          </a:xfrm>
          <a:prstGeom prst="bentConnector4">
            <a:avLst>
              <a:gd fmla="val -10197" name="adj1"/>
              <a:gd fmla="val 113620" name="adj2"/>
            </a:avLst>
          </a:prstGeom>
          <a:noFill/>
          <a:ln cap="flat" cmpd="sng" w="19050">
            <a:solidFill>
              <a:srgbClr val="4CC6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5"/>
          <p:cNvSpPr/>
          <p:nvPr/>
        </p:nvSpPr>
        <p:spPr>
          <a:xfrm>
            <a:off x="5195925" y="2899375"/>
            <a:ext cx="3367800" cy="1830900"/>
          </a:xfrm>
          <a:prstGeom prst="roundRect">
            <a:avLst>
              <a:gd fmla="val 10170" name="adj"/>
            </a:avLst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1769" y="2967825"/>
            <a:ext cx="1120531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/>
          <p:nvPr/>
        </p:nvSpPr>
        <p:spPr>
          <a:xfrm>
            <a:off x="5285025" y="3889850"/>
            <a:ext cx="3166800" cy="717900"/>
          </a:xfrm>
          <a:prstGeom prst="roundRect">
            <a:avLst>
              <a:gd fmla="val 4549" name="adj"/>
            </a:avLst>
          </a:prstGeom>
          <a:solidFill>
            <a:srgbClr val="2B3036"/>
          </a:solidFill>
          <a:ln>
            <a:noFill/>
          </a:ln>
        </p:spPr>
        <p:txBody>
          <a:bodyPr anchorCtr="0" anchor="ctr" bIns="12150" lIns="12150" spcFirstLastPara="1" rIns="12150" wrap="square" tIns="12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5326973" y="3889858"/>
            <a:ext cx="30645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6C8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category: </a:t>
            </a:r>
            <a:r>
              <a:rPr lang="en" sz="1050">
                <a:solidFill>
                  <a:srgbClr val="FF9900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controlled</a:t>
            </a:r>
            <a:endParaRPr sz="1050">
              <a:solidFill>
                <a:srgbClr val="FF9900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6C8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field: access_level</a:t>
            </a:r>
            <a:endParaRPr sz="1050">
              <a:solidFill>
                <a:srgbClr val="F7A6C8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7A6C8"/>
                </a:solidFill>
                <a:highlight>
                  <a:srgbClr val="2B3036"/>
                </a:highlight>
                <a:latin typeface="IBM Plex Mono"/>
                <a:ea typeface="IBM Plex Mono"/>
                <a:cs typeface="IBM Plex Mono"/>
                <a:sym typeface="IBM Plex Mono"/>
              </a:rPr>
              <a:t>  value: restricted</a:t>
            </a:r>
            <a:endParaRPr sz="1050">
              <a:solidFill>
                <a:srgbClr val="F7A6C8"/>
              </a:solidFill>
              <a:highlight>
                <a:srgbClr val="2B3036"/>
              </a:highlight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5307975" y="3399111"/>
            <a:ext cx="316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The admins defines categories within their search API configs.</a:t>
            </a:r>
            <a:endParaRPr sz="1000"/>
          </a:p>
        </p:txBody>
      </p:sp>
      <p:sp>
        <p:nvSpPr>
          <p:cNvPr id="211" name="Google Shape;211;p25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212" name="Google Shape;212;p25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Anatomy of a permission</a:t>
            </a:r>
            <a:endParaRPr sz="1100"/>
          </a:p>
        </p:txBody>
      </p:sp>
      <p:sp>
        <p:nvSpPr>
          <p:cNvPr id="213" name="Google Shape;213;p25"/>
          <p:cNvSpPr txBox="1"/>
          <p:nvPr>
            <p:ph idx="2" type="body"/>
          </p:nvPr>
        </p:nvSpPr>
        <p:spPr>
          <a:xfrm>
            <a:off x="7749151" y="972399"/>
            <a:ext cx="8202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Grant Token</a:t>
            </a:r>
            <a:endParaRPr sz="1100"/>
          </a:p>
        </p:txBody>
      </p:sp>
      <p:pic>
        <p:nvPicPr>
          <p:cNvPr id="214" name="Google Shape;21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5628" y="1216746"/>
            <a:ext cx="11083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5076" y="2981066"/>
            <a:ext cx="1108300" cy="46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743504" y="1970696"/>
            <a:ext cx="7886700" cy="435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ato"/>
                <a:ea typeface="Lato"/>
                <a:cs typeface="Lato"/>
                <a:sym typeface="Lato"/>
              </a:rPr>
              <a:t>User Stories</a:t>
            </a:r>
            <a:endParaRPr b="1" sz="2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ato"/>
                <a:ea typeface="Lato"/>
                <a:cs typeface="Lato"/>
                <a:sym typeface="Lato"/>
              </a:rPr>
              <a:t>PCGL, iMS, ARGO</a:t>
            </a:r>
            <a:endParaRPr b="1"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>
            <a:off x="802825" y="1836849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802825" y="2489349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97725" y="3141853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802825" y="3794370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F4E2EA"/>
          </a:solidFill>
          <a:ln cap="flat" cmpd="sng" w="8525">
            <a:solidFill>
              <a:srgbClr val="C51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97725" y="1184210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0" name="Google Shape;2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/>
        </p:nvSpPr>
        <p:spPr>
          <a:xfrm>
            <a:off x="902308" y="1198738"/>
            <a:ext cx="716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9ED9"/>
                </a:solidFill>
              </a:rPr>
              <a:t>Data Consumer: </a:t>
            </a:r>
            <a:r>
              <a:rPr lang="en" sz="1200">
                <a:solidFill>
                  <a:schemeClr val="dk1"/>
                </a:solidFill>
              </a:rPr>
              <a:t>Receives access to controlled data and sees only what they have been granted. In Usher: anyone with a viewer role.</a:t>
            </a:r>
            <a:endParaRPr sz="1200"/>
          </a:p>
        </p:txBody>
      </p:sp>
      <p:sp>
        <p:nvSpPr>
          <p:cNvPr id="232" name="Google Shape;232;p27"/>
          <p:cNvSpPr txBox="1"/>
          <p:nvPr/>
        </p:nvSpPr>
        <p:spPr>
          <a:xfrm>
            <a:off x="902300" y="2491050"/>
            <a:ext cx="628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E69138"/>
                </a:solidFill>
              </a:rPr>
              <a:t>Data Submitter: </a:t>
            </a:r>
            <a:r>
              <a:rPr lang="en" sz="1200">
                <a:solidFill>
                  <a:schemeClr val="dk1"/>
                </a:solidFill>
              </a:rPr>
              <a:t>Contributes records and classifies them on the way in. Becomes a steward of everything they submit.</a:t>
            </a:r>
            <a:endParaRPr sz="1200"/>
          </a:p>
        </p:txBody>
      </p:sp>
      <p:sp>
        <p:nvSpPr>
          <p:cNvPr id="233" name="Google Shape;233;p27"/>
          <p:cNvSpPr txBox="1"/>
          <p:nvPr/>
        </p:nvSpPr>
        <p:spPr>
          <a:xfrm>
            <a:off x="902300" y="1844825"/>
            <a:ext cx="7126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5106C"/>
                </a:solidFill>
              </a:rPr>
              <a:t>Data Steward: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Owns a resource and decides who may see it, grants, reviews and revokes access. In Usher: a resource's owner.</a:t>
            </a:r>
            <a:endParaRPr sz="1200"/>
          </a:p>
        </p:txBody>
      </p:sp>
      <p:sp>
        <p:nvSpPr>
          <p:cNvPr id="234" name="Google Shape;234;p27"/>
          <p:cNvSpPr txBox="1"/>
          <p:nvPr/>
        </p:nvSpPr>
        <p:spPr>
          <a:xfrm>
            <a:off x="902299" y="3146650"/>
            <a:ext cx="643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System</a:t>
            </a:r>
            <a:r>
              <a:rPr b="1" lang="en">
                <a:solidFill>
                  <a:srgbClr val="434343"/>
                </a:solidFill>
              </a:rPr>
              <a:t> Administrator: </a:t>
            </a:r>
            <a:r>
              <a:rPr lang="en" sz="1200"/>
              <a:t>Runs the platform: creates resources, assigns submitters. Deliberately has no role in consuming or sharing controlled data.</a:t>
            </a:r>
            <a:endParaRPr sz="1200"/>
          </a:p>
        </p:txBody>
      </p:sp>
      <p:sp>
        <p:nvSpPr>
          <p:cNvPr id="235" name="Google Shape;235;p27"/>
          <p:cNvSpPr txBox="1"/>
          <p:nvPr/>
        </p:nvSpPr>
        <p:spPr>
          <a:xfrm>
            <a:off x="902298" y="3805225"/>
            <a:ext cx="638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Ushered Application: </a:t>
            </a:r>
            <a:r>
              <a:rPr lang="en" sz="1200"/>
              <a:t>Search APIs, file services, agent interfaces, etc.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Asks Usher what a user may reach, for each request.</a:t>
            </a:r>
            <a:endParaRPr sz="1200"/>
          </a:p>
        </p:txBody>
      </p:sp>
      <p:sp>
        <p:nvSpPr>
          <p:cNvPr id="236" name="Google Shape;236;p27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237" name="Google Shape;237;p27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Who Usher Answers For</a:t>
            </a:r>
            <a:endParaRPr sz="1100"/>
          </a:p>
        </p:txBody>
      </p:sp>
      <p:sp>
        <p:nvSpPr>
          <p:cNvPr id="238" name="Google Shape;238;p27"/>
          <p:cNvSpPr txBox="1"/>
          <p:nvPr/>
        </p:nvSpPr>
        <p:spPr>
          <a:xfrm>
            <a:off x="802825" y="4458000"/>
            <a:ext cx="6437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 are written for Usher as a service; the iMS Data Portal, its first consumer, supplies the worked examples.</a:t>
            </a:r>
            <a:endParaRPr sz="95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/>
          <p:nvPr/>
        </p:nvSpPr>
        <p:spPr>
          <a:xfrm>
            <a:off x="802825" y="1836849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802825" y="2489349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797725" y="3141853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802825" y="3794370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F4E2EA"/>
          </a:solidFill>
          <a:ln cap="flat" cmpd="sng" w="8525">
            <a:solidFill>
              <a:srgbClr val="C51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797725" y="1184210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8"/>
          <p:cNvSpPr txBox="1"/>
          <p:nvPr/>
        </p:nvSpPr>
        <p:spPr>
          <a:xfrm>
            <a:off x="902308" y="1198738"/>
            <a:ext cx="71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9ED9"/>
                </a:solidFill>
              </a:rPr>
              <a:t>PCGL </a:t>
            </a:r>
            <a:endParaRPr sz="1200"/>
          </a:p>
        </p:txBody>
      </p:sp>
      <p:sp>
        <p:nvSpPr>
          <p:cNvPr id="250" name="Google Shape;250;p28"/>
          <p:cNvSpPr txBox="1"/>
          <p:nvPr/>
        </p:nvSpPr>
        <p:spPr>
          <a:xfrm>
            <a:off x="902300" y="2491050"/>
            <a:ext cx="62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E69138"/>
                </a:solidFill>
              </a:rPr>
              <a:t>iMS</a:t>
            </a:r>
            <a:endParaRPr sz="1200"/>
          </a:p>
        </p:txBody>
      </p:sp>
      <p:sp>
        <p:nvSpPr>
          <p:cNvPr id="251" name="Google Shape;251;p28"/>
          <p:cNvSpPr txBox="1"/>
          <p:nvPr/>
        </p:nvSpPr>
        <p:spPr>
          <a:xfrm>
            <a:off x="902300" y="1844825"/>
            <a:ext cx="712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5106C"/>
                </a:solidFill>
              </a:rPr>
              <a:t>OHCRN</a:t>
            </a:r>
            <a:endParaRPr sz="1200"/>
          </a:p>
        </p:txBody>
      </p:sp>
      <p:sp>
        <p:nvSpPr>
          <p:cNvPr id="252" name="Google Shape;252;p28"/>
          <p:cNvSpPr txBox="1"/>
          <p:nvPr/>
        </p:nvSpPr>
        <p:spPr>
          <a:xfrm>
            <a:off x="902299" y="3146650"/>
            <a:ext cx="643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System Administrator: </a:t>
            </a:r>
            <a:r>
              <a:rPr lang="en" sz="1200"/>
              <a:t>Runs the platform: creates resources, assigns submitters. Deliberately has no role in consuming or sharing controlled data.</a:t>
            </a:r>
            <a:endParaRPr sz="1200"/>
          </a:p>
        </p:txBody>
      </p:sp>
      <p:sp>
        <p:nvSpPr>
          <p:cNvPr id="253" name="Google Shape;253;p28"/>
          <p:cNvSpPr txBox="1"/>
          <p:nvPr/>
        </p:nvSpPr>
        <p:spPr>
          <a:xfrm>
            <a:off x="902298" y="3805225"/>
            <a:ext cx="638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Ushered Application: </a:t>
            </a:r>
            <a:r>
              <a:rPr lang="en" sz="1200"/>
              <a:t>Search APIs, file services, agent interfaces, etc.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Asks Usher what a user may reach, for each request.</a:t>
            </a:r>
            <a:endParaRPr sz="1200"/>
          </a:p>
        </p:txBody>
      </p:sp>
      <p:sp>
        <p:nvSpPr>
          <p:cNvPr id="254" name="Google Shape;254;p28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255" name="Google Shape;255;p28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Who Usher Answers For</a:t>
            </a:r>
            <a:endParaRPr sz="1100"/>
          </a:p>
        </p:txBody>
      </p:sp>
      <p:sp>
        <p:nvSpPr>
          <p:cNvPr id="256" name="Google Shape;256;p28"/>
          <p:cNvSpPr txBox="1"/>
          <p:nvPr/>
        </p:nvSpPr>
        <p:spPr>
          <a:xfrm>
            <a:off x="802825" y="4458000"/>
            <a:ext cx="6437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Stories are written for Usher as a service; the iMS Data Portal, its first consumer, supplies the worked examples.</a:t>
            </a:r>
            <a:endParaRPr sz="95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/>
          <p:nvPr/>
        </p:nvSpPr>
        <p:spPr>
          <a:xfrm>
            <a:off x="797725" y="1184210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2" name="Google Shape;2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9"/>
          <p:cNvSpPr txBox="1"/>
          <p:nvPr/>
        </p:nvSpPr>
        <p:spPr>
          <a:xfrm>
            <a:off x="902308" y="1198738"/>
            <a:ext cx="716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C6F1"/>
                </a:solidFill>
              </a:rPr>
              <a:t>Data Consumer: </a:t>
            </a:r>
            <a:r>
              <a:rPr lang="en" sz="1200">
                <a:solidFill>
                  <a:schemeClr val="dk1"/>
                </a:solidFill>
              </a:rPr>
              <a:t>Receives access to controlled data and sees only what they have been granted. In Usher: anyone with a viewer role.</a:t>
            </a:r>
            <a:endParaRPr b="1"/>
          </a:p>
        </p:txBody>
      </p:sp>
      <p:sp>
        <p:nvSpPr>
          <p:cNvPr id="264" name="Google Shape;264;p29"/>
          <p:cNvSpPr txBox="1"/>
          <p:nvPr/>
        </p:nvSpPr>
        <p:spPr>
          <a:xfrm>
            <a:off x="1233025" y="1839550"/>
            <a:ext cx="6254700" cy="22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Browse Open Data: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explore and download open data without signing in</a:t>
            </a:r>
            <a:endParaRPr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E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Browse Controlled Data:</a:t>
            </a:r>
            <a:r>
              <a:rPr b="1" lang="en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see data I have been granted access to. Data I cannot access is invisible to me rather than locked, I cannot infer what exists.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Verifiable: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know what permissions I hold and on whose authority.</a:t>
            </a:r>
            <a:endParaRPr b="1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">
                <a:solidFill>
                  <a:srgbClr val="0F9ED9"/>
                </a:solidFill>
                <a:latin typeface="Lato"/>
                <a:ea typeface="Lato"/>
                <a:cs typeface="Lato"/>
                <a:sym typeface="Lato"/>
              </a:rPr>
              <a:t>Approval: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explicitly accept or decline an invitation, so that no permissions arrive to  my account without my agreement.</a:t>
            </a:r>
            <a:endParaRPr/>
          </a:p>
        </p:txBody>
      </p:sp>
      <p:sp>
        <p:nvSpPr>
          <p:cNvPr id="265" name="Google Shape;265;p29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266" name="Google Shape;266;p29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Data Consumer</a:t>
            </a:r>
            <a:endParaRPr sz="1100"/>
          </a:p>
        </p:txBody>
      </p:sp>
      <p:cxnSp>
        <p:nvCxnSpPr>
          <p:cNvPr id="267" name="Google Shape;267;p29"/>
          <p:cNvCxnSpPr/>
          <p:nvPr/>
        </p:nvCxnSpPr>
        <p:spPr>
          <a:xfrm>
            <a:off x="1084800" y="1931450"/>
            <a:ext cx="13200" cy="20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797725" y="1184210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 txBox="1"/>
          <p:nvPr/>
        </p:nvSpPr>
        <p:spPr>
          <a:xfrm>
            <a:off x="902308" y="1198738"/>
            <a:ext cx="716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5106C"/>
                </a:solidFill>
              </a:rPr>
              <a:t>Data Steward:</a:t>
            </a:r>
            <a:r>
              <a:rPr b="1" lang="en"/>
              <a:t> </a:t>
            </a:r>
            <a:r>
              <a:rPr lang="en" sz="1200"/>
              <a:t>Owns a resource and decides who may see it, grants, reviews and revokes access. In Usher: a resource's owner.</a:t>
            </a:r>
            <a:endParaRPr sz="1200"/>
          </a:p>
        </p:txBody>
      </p:sp>
      <p:sp>
        <p:nvSpPr>
          <p:cNvPr id="275" name="Google Shape;275;p30"/>
          <p:cNvSpPr txBox="1"/>
          <p:nvPr/>
        </p:nvSpPr>
        <p:spPr>
          <a:xfrm>
            <a:off x="1233025" y="1839550"/>
            <a:ext cx="74586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5106C"/>
                </a:solidFill>
                <a:latin typeface="Lato"/>
                <a:ea typeface="Lato"/>
                <a:cs typeface="Lato"/>
                <a:sym typeface="Lato"/>
              </a:rPr>
              <a:t>Designate:</a:t>
            </a:r>
            <a:r>
              <a:rPr b="1" lang="en" sz="1300">
                <a:solidFill>
                  <a:srgbClr val="4CC6F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mark records as controlled when they are submitted, so that nothing is exposed before I have decided who may see it.</a:t>
            </a:r>
            <a:endParaRPr b="1" sz="13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5106C"/>
                </a:solidFill>
                <a:latin typeface="Lato"/>
                <a:ea typeface="Lato"/>
                <a:cs typeface="Lato"/>
                <a:sym typeface="Lato"/>
              </a:rPr>
              <a:t>Grant:  </a:t>
            </a:r>
            <a:r>
              <a:rPr lang="en" sz="13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grant access by entering a colleague's email, so that I can share my data without filing a ticket or waiting on an admin.</a:t>
            </a:r>
            <a:endParaRPr b="1" sz="13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5106C"/>
                </a:solidFill>
                <a:latin typeface="Lato"/>
                <a:ea typeface="Lato"/>
                <a:cs typeface="Lato"/>
                <a:sym typeface="Lato"/>
              </a:rPr>
              <a:t>Review:  </a:t>
            </a:r>
            <a:r>
              <a:rPr lang="en" sz="13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I can see every grant on the data I own and who else stewards it. I can answer “who can see this?” without asking anyone.</a:t>
            </a:r>
            <a:endParaRPr b="1" sz="13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5106C"/>
                </a:solidFill>
                <a:latin typeface="Lato"/>
                <a:ea typeface="Lato"/>
                <a:cs typeface="Lato"/>
                <a:sym typeface="Lato"/>
              </a:rPr>
              <a:t>Revoke:  </a:t>
            </a:r>
            <a:r>
              <a:rPr lang="en" sz="13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revoke access immediately, so that access ends the moment a collaboration does.</a:t>
            </a:r>
            <a:endParaRPr b="1" sz="13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C5106C"/>
                </a:solidFill>
                <a:latin typeface="Lato"/>
                <a:ea typeface="Lato"/>
                <a:cs typeface="Lato"/>
                <a:sym typeface="Lato"/>
              </a:rPr>
              <a:t>Delegate:</a:t>
            </a:r>
            <a:r>
              <a:rPr b="1" lang="en" sz="1300">
                <a:solidFill>
                  <a:srgbClr val="C5106C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" sz="13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</a:t>
            </a:r>
            <a:r>
              <a:rPr lang="en" sz="13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pass stewardship to a PI or a replacement colleague, so that authority over the data survives staff changes.</a:t>
            </a:r>
            <a:endParaRPr b="1" sz="13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6" name="Google Shape;276;p30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277" name="Google Shape;277;p30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Data Steward</a:t>
            </a:r>
            <a:endParaRPr sz="1100"/>
          </a:p>
        </p:txBody>
      </p:sp>
      <p:cxnSp>
        <p:nvCxnSpPr>
          <p:cNvPr id="278" name="Google Shape;278;p30"/>
          <p:cNvCxnSpPr/>
          <p:nvPr/>
        </p:nvCxnSpPr>
        <p:spPr>
          <a:xfrm>
            <a:off x="1084800" y="1931450"/>
            <a:ext cx="0" cy="26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/>
          <p:nvPr/>
        </p:nvSpPr>
        <p:spPr>
          <a:xfrm>
            <a:off x="799661" y="1184200"/>
            <a:ext cx="3796200" cy="7695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4" name="Google Shape;2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1"/>
          <p:cNvSpPr txBox="1"/>
          <p:nvPr/>
        </p:nvSpPr>
        <p:spPr>
          <a:xfrm>
            <a:off x="915655" y="1198750"/>
            <a:ext cx="368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69138"/>
                </a:solidFill>
              </a:rPr>
              <a:t>Data Submitter: </a:t>
            </a:r>
            <a:r>
              <a:rPr lang="en" sz="1200">
                <a:solidFill>
                  <a:schemeClr val="dk1"/>
                </a:solidFill>
              </a:rPr>
              <a:t>Contributes records and classifies them on the way in. Becomes a steward of everything they submit.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86" name="Google Shape;286;p31"/>
          <p:cNvSpPr txBox="1"/>
          <p:nvPr/>
        </p:nvSpPr>
        <p:spPr>
          <a:xfrm>
            <a:off x="859200" y="2068150"/>
            <a:ext cx="37962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7A00"/>
                </a:solidFill>
                <a:latin typeface="Lato"/>
                <a:ea typeface="Lato"/>
                <a:cs typeface="Lato"/>
                <a:sym typeface="Lato"/>
              </a:rPr>
              <a:t>Classify: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set access levels during submission.</a:t>
            </a:r>
            <a:endParaRPr b="1">
              <a:solidFill>
                <a:srgbClr val="0F9E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7A00"/>
                </a:solidFill>
                <a:latin typeface="Lato"/>
                <a:ea typeface="Lato"/>
                <a:cs typeface="Lato"/>
                <a:sym typeface="Lato"/>
              </a:rPr>
              <a:t>Inherit: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steward what I submit, and I can share my data without the need for that right being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granted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E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">
                <a:solidFill>
                  <a:srgbClr val="CC7A00"/>
                </a:solidFill>
                <a:latin typeface="Lato"/>
                <a:ea typeface="Lato"/>
                <a:cs typeface="Lato"/>
                <a:sym typeface="Lato"/>
              </a:rPr>
              <a:t>Stay in scope 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submit only to studies I am associated to, I cannot add records elsewhere.</a:t>
            </a:r>
            <a:endParaRPr/>
          </a:p>
        </p:txBody>
      </p:sp>
      <p:sp>
        <p:nvSpPr>
          <p:cNvPr id="287" name="Google Shape;287;p31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288" name="Google Shape;288;p31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Data Submitter &amp; Data Admin</a:t>
            </a:r>
            <a:endParaRPr sz="1100"/>
          </a:p>
        </p:txBody>
      </p:sp>
      <p:cxnSp>
        <p:nvCxnSpPr>
          <p:cNvPr id="289" name="Google Shape;289;p31"/>
          <p:cNvCxnSpPr/>
          <p:nvPr/>
        </p:nvCxnSpPr>
        <p:spPr>
          <a:xfrm>
            <a:off x="780000" y="2160050"/>
            <a:ext cx="0" cy="240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1"/>
          <p:cNvSpPr/>
          <p:nvPr/>
        </p:nvSpPr>
        <p:spPr>
          <a:xfrm>
            <a:off x="4842575" y="1198750"/>
            <a:ext cx="3796200" cy="769500"/>
          </a:xfrm>
          <a:prstGeom prst="roundRect">
            <a:avLst>
              <a:gd fmla="val 16667" name="adj"/>
            </a:avLst>
          </a:prstGeom>
          <a:solidFill>
            <a:srgbClr val="E9F6FB"/>
          </a:solidFill>
          <a:ln cap="flat" cmpd="sng" w="8525">
            <a:solidFill>
              <a:srgbClr val="4CC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4958575" y="1213300"/>
            <a:ext cx="356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F7F7F"/>
                </a:solidFill>
              </a:rPr>
              <a:t>Data Admin: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Runs the platform: creates resources, assigns submitters. Deliberately has no role in sharing controlled data.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4902125" y="2082700"/>
            <a:ext cx="39483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5F5F5F"/>
                </a:solidFill>
                <a:latin typeface="Lato"/>
                <a:ea typeface="Lato"/>
                <a:cs typeface="Lato"/>
                <a:sym typeface="Lato"/>
              </a:rPr>
              <a:t>Set up: 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create resources and assign submitters, so that teams can begin contributing.</a:t>
            </a:r>
            <a:endParaRPr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5F5F5F"/>
                </a:solidFill>
                <a:latin typeface="Lato"/>
                <a:ea typeface="Lato"/>
                <a:cs typeface="Lato"/>
                <a:sym typeface="Lato"/>
              </a:rPr>
              <a:t>Stay out of sharing: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I have no ability to grant access to controlled records, that authority stays with the data owners.</a:t>
            </a:r>
            <a:endParaRPr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5F5F5F"/>
                </a:solidFill>
                <a:latin typeface="Lato"/>
                <a:ea typeface="Lato"/>
                <a:cs typeface="Lato"/>
                <a:sym typeface="Lato"/>
              </a:rPr>
              <a:t>Step in when needed: </a:t>
            </a:r>
            <a:r>
              <a:rPr lang="en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I can reassign stewardship only when a steward's account is removed, this way data stays manageable.</a:t>
            </a:r>
            <a:endParaRPr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ED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31"/>
          <p:cNvCxnSpPr/>
          <p:nvPr/>
        </p:nvCxnSpPr>
        <p:spPr>
          <a:xfrm>
            <a:off x="4822912" y="2174600"/>
            <a:ext cx="0" cy="23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/>
          <p:nvPr/>
        </p:nvSpPr>
        <p:spPr>
          <a:xfrm>
            <a:off x="819650" y="1189041"/>
            <a:ext cx="7326300" cy="599400"/>
          </a:xfrm>
          <a:prstGeom prst="roundRect">
            <a:avLst>
              <a:gd fmla="val 16667" name="adj"/>
            </a:avLst>
          </a:prstGeom>
          <a:solidFill>
            <a:srgbClr val="F4E2EA"/>
          </a:solidFill>
          <a:ln cap="flat" cmpd="sng" w="8525">
            <a:solidFill>
              <a:srgbClr val="C51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5" lIns="9775" spcFirstLastPara="1" rIns="9775" wrap="square" tIns="9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902308" y="1198738"/>
            <a:ext cx="716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Ushered Application: </a:t>
            </a:r>
            <a:r>
              <a:rPr lang="en" sz="1200">
                <a:solidFill>
                  <a:schemeClr val="dk1"/>
                </a:solidFill>
              </a:rPr>
              <a:t>Search APIs, file services, agent interfaces. Asks Usher what this user may reach, on every request.</a:t>
            </a:r>
            <a:endParaRPr b="1">
              <a:solidFill>
                <a:srgbClr val="4CC6F1"/>
              </a:solidFill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975038" y="1839550"/>
            <a:ext cx="71811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798A"/>
                </a:solidFill>
                <a:latin typeface="Lato"/>
                <a:ea typeface="Lato"/>
                <a:cs typeface="Lato"/>
                <a:sym typeface="Lato"/>
              </a:rPr>
              <a:t>Ask once 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As an integrating service (Stage), I want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one authoritative answer to “what may this user reach?”, so that every service enforces the same decision.</a:t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798A"/>
                </a:solidFill>
                <a:latin typeface="Lato"/>
                <a:ea typeface="Lato"/>
                <a:cs typeface="Lato"/>
                <a:sym typeface="Lato"/>
              </a:rPr>
              <a:t>Filter at query time 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As a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search API (Arranger)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, I want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authoriz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ation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expressed as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filter,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so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that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unauthorized records are never included in a result set or an aggregation count.</a:t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798A"/>
                </a:solidFill>
                <a:latin typeface="Lato"/>
                <a:ea typeface="Lato"/>
                <a:cs typeface="Lato"/>
                <a:sym typeface="Lato"/>
              </a:rPr>
              <a:t>Enforce at the terminal 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As a file service (Score), I want every download request checked without relying on a Graphical User Interface.</a:t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798A"/>
                </a:solidFill>
                <a:latin typeface="Lato"/>
                <a:ea typeface="Lato"/>
                <a:cs typeface="Lato"/>
                <a:sym typeface="Lato"/>
              </a:rPr>
              <a:t>Fail closed 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As an integrating service, I want an unambiguous  instruction to deny, so that an auth  service outage degrades access rather than allow me to  leak any data.</a:t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798A"/>
                </a:solidFill>
                <a:latin typeface="Lato"/>
                <a:ea typeface="Lato"/>
                <a:cs typeface="Lato"/>
                <a:sym typeface="Lato"/>
              </a:rPr>
              <a:t>Show its work  </a:t>
            </a:r>
            <a:r>
              <a:rPr lang="en" sz="125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As an operator, I want every grant, revocation and decision recorded, so that access can be reconstructed and audited later.</a:t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2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1250">
              <a:solidFill>
                <a:srgbClr val="272A3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32"/>
          <p:cNvSpPr txBox="1"/>
          <p:nvPr>
            <p:ph idx="2" type="body"/>
          </p:nvPr>
        </p:nvSpPr>
        <p:spPr>
          <a:xfrm>
            <a:off x="802835" y="378899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303" name="Google Shape;303;p32"/>
          <p:cNvSpPr txBox="1"/>
          <p:nvPr/>
        </p:nvSpPr>
        <p:spPr>
          <a:xfrm>
            <a:off x="797728" y="540125"/>
            <a:ext cx="6891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The Ushered Application</a:t>
            </a:r>
            <a:endParaRPr sz="1100"/>
          </a:p>
        </p:txBody>
      </p:sp>
      <p:cxnSp>
        <p:nvCxnSpPr>
          <p:cNvPr id="304" name="Google Shape;304;p32"/>
          <p:cNvCxnSpPr/>
          <p:nvPr/>
        </p:nvCxnSpPr>
        <p:spPr>
          <a:xfrm>
            <a:off x="829750" y="1931450"/>
            <a:ext cx="12900" cy="281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/>
          <p:nvPr>
            <p:ph type="title"/>
          </p:nvPr>
        </p:nvSpPr>
        <p:spPr>
          <a:xfrm>
            <a:off x="743504" y="1970696"/>
            <a:ext cx="7886700" cy="435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Lato"/>
                <a:ea typeface="Lato"/>
                <a:cs typeface="Lato"/>
                <a:sym typeface="Lato"/>
              </a:rPr>
              <a:t>Development Timeline &amp; Resources</a:t>
            </a:r>
            <a:endParaRPr b="1"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/>
          <p:nvPr/>
        </p:nvSpPr>
        <p:spPr>
          <a:xfrm>
            <a:off x="313331" y="3114855"/>
            <a:ext cx="8675400" cy="3357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7391504" y="3111900"/>
            <a:ext cx="1596600" cy="3357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4"/>
          <p:cNvSpPr txBox="1"/>
          <p:nvPr/>
        </p:nvSpPr>
        <p:spPr>
          <a:xfrm>
            <a:off x="7509324" y="3082600"/>
            <a:ext cx="14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UAT / </a:t>
            </a: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Delivery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34"/>
          <p:cNvSpPr txBox="1"/>
          <p:nvPr>
            <p:ph idx="2" type="body"/>
          </p:nvPr>
        </p:nvSpPr>
        <p:spPr>
          <a:xfrm>
            <a:off x="318435" y="304073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318" name="Google Shape;318;p34"/>
          <p:cNvSpPr txBox="1"/>
          <p:nvPr/>
        </p:nvSpPr>
        <p:spPr>
          <a:xfrm>
            <a:off x="313328" y="465300"/>
            <a:ext cx="6806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Timeline</a:t>
            </a:r>
            <a:endParaRPr sz="1100"/>
          </a:p>
        </p:txBody>
      </p:sp>
      <p:pic>
        <p:nvPicPr>
          <p:cNvPr id="319" name="Google Shape;3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4"/>
          <p:cNvSpPr txBox="1"/>
          <p:nvPr/>
        </p:nvSpPr>
        <p:spPr>
          <a:xfrm>
            <a:off x="282370" y="4282804"/>
            <a:ext cx="488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rgbClr val="9E005D"/>
                </a:solidFill>
                <a:latin typeface="Lato"/>
                <a:ea typeface="Lato"/>
                <a:cs typeface="Lato"/>
                <a:sym typeface="Lato"/>
              </a:rPr>
              <a:t>We are here, October. 2026 </a:t>
            </a:r>
            <a:endParaRPr i="1" sz="2200">
              <a:solidFill>
                <a:srgbClr val="9E005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5165172" y="4027421"/>
            <a:ext cx="195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Lato"/>
                <a:ea typeface="Lato"/>
                <a:cs typeface="Lato"/>
                <a:sym typeface="Lato"/>
              </a:rPr>
              <a:t>Dec</a:t>
            </a:r>
            <a:r>
              <a:rPr b="1" lang="en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202</a:t>
            </a:r>
            <a:r>
              <a:rPr b="1" lang="en" sz="2200">
                <a:latin typeface="Lato"/>
                <a:ea typeface="Lato"/>
                <a:cs typeface="Lato"/>
                <a:sym typeface="Lato"/>
              </a:rPr>
              <a:t>6</a:t>
            </a:r>
            <a:endParaRPr b="1" sz="2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7418673" y="4027391"/>
            <a:ext cx="159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Mar 202</a:t>
            </a:r>
            <a:r>
              <a:rPr b="1" lang="en" sz="2200">
                <a:latin typeface="Lato"/>
                <a:ea typeface="Lato"/>
                <a:cs typeface="Lato"/>
                <a:sym typeface="Lato"/>
              </a:rPr>
              <a:t>7</a:t>
            </a:r>
            <a:endParaRPr b="1" sz="22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313321" y="1193958"/>
            <a:ext cx="8675400" cy="3357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13321" y="1677524"/>
            <a:ext cx="8675400" cy="3357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4"/>
          <p:cNvSpPr/>
          <p:nvPr/>
        </p:nvSpPr>
        <p:spPr>
          <a:xfrm>
            <a:off x="313314" y="2173014"/>
            <a:ext cx="8675400" cy="3357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313314" y="2656581"/>
            <a:ext cx="8675400" cy="3357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4"/>
          <p:cNvSpPr/>
          <p:nvPr/>
        </p:nvSpPr>
        <p:spPr>
          <a:xfrm>
            <a:off x="2519325" y="1699825"/>
            <a:ext cx="5520900" cy="3357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4"/>
          <p:cNvSpPr/>
          <p:nvPr/>
        </p:nvSpPr>
        <p:spPr>
          <a:xfrm>
            <a:off x="2995800" y="2170000"/>
            <a:ext cx="3760200" cy="3357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4"/>
          <p:cNvSpPr/>
          <p:nvPr/>
        </p:nvSpPr>
        <p:spPr>
          <a:xfrm>
            <a:off x="5837500" y="2665475"/>
            <a:ext cx="2190900" cy="3357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3009775" y="2137775"/>
            <a:ext cx="31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Platform </a:t>
            </a: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Integration (10 Weeks)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1" name="Google Shape;331;p34"/>
          <p:cNvSpPr txBox="1"/>
          <p:nvPr/>
        </p:nvSpPr>
        <p:spPr>
          <a:xfrm>
            <a:off x="5846525" y="2638300"/>
            <a:ext cx="20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UI Work (3 Weeks)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2" name="Google Shape;332;p34"/>
          <p:cNvCxnSpPr/>
          <p:nvPr/>
        </p:nvCxnSpPr>
        <p:spPr>
          <a:xfrm>
            <a:off x="2393172" y="1271705"/>
            <a:ext cx="3300" cy="3011100"/>
          </a:xfrm>
          <a:prstGeom prst="straightConnector1">
            <a:avLst/>
          </a:prstGeom>
          <a:noFill/>
          <a:ln cap="flat" cmpd="sng" w="28575">
            <a:solidFill>
              <a:srgbClr val="C5106C"/>
            </a:solidFill>
            <a:prstDash val="solid"/>
            <a:round/>
            <a:headEnd len="med" w="med" type="none"/>
            <a:tailEnd len="med" w="med" type="oval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333" name="Google Shape;333;p34"/>
          <p:cNvSpPr txBox="1"/>
          <p:nvPr/>
        </p:nvSpPr>
        <p:spPr>
          <a:xfrm>
            <a:off x="2604250" y="1667600"/>
            <a:ext cx="24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Usher Backend (14 weeks)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328419" y="1193950"/>
            <a:ext cx="2190900" cy="3357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391045" y="1162175"/>
            <a:ext cx="21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Complete </a:t>
            </a:r>
            <a:r>
              <a:rPr b="1"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Specification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"/>
          <p:cNvSpPr/>
          <p:nvPr/>
        </p:nvSpPr>
        <p:spPr>
          <a:xfrm>
            <a:off x="338625" y="2737072"/>
            <a:ext cx="8481300" cy="5439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5"/>
          <p:cNvSpPr txBox="1"/>
          <p:nvPr>
            <p:ph idx="2" type="body"/>
          </p:nvPr>
        </p:nvSpPr>
        <p:spPr>
          <a:xfrm>
            <a:off x="313335" y="247724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342" name="Google Shape;342;p35"/>
          <p:cNvSpPr txBox="1"/>
          <p:nvPr/>
        </p:nvSpPr>
        <p:spPr>
          <a:xfrm>
            <a:off x="313328" y="465300"/>
            <a:ext cx="68061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Resourcing</a:t>
            </a:r>
            <a:endParaRPr sz="1100"/>
          </a:p>
        </p:txBody>
      </p:sp>
      <p:pic>
        <p:nvPicPr>
          <p:cNvPr id="343" name="Google Shape;3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5"/>
          <p:cNvSpPr/>
          <p:nvPr/>
        </p:nvSpPr>
        <p:spPr>
          <a:xfrm>
            <a:off x="324075" y="1214813"/>
            <a:ext cx="8481300" cy="5439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324075" y="1997768"/>
            <a:ext cx="8481300" cy="543900"/>
          </a:xfrm>
          <a:prstGeom prst="roundRect">
            <a:avLst>
              <a:gd fmla="val 50000" name="adj"/>
            </a:avLst>
          </a:prstGeom>
          <a:solidFill>
            <a:srgbClr val="E4E9EF"/>
          </a:solidFill>
          <a:ln>
            <a:noFill/>
          </a:ln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338844" y="1997729"/>
            <a:ext cx="32691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445342" y="2076513"/>
            <a:ext cx="2009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40% FTE UI/UX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338849" y="1214800"/>
            <a:ext cx="48318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400065" y="1294300"/>
            <a:ext cx="4150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50% FTE Developer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0" name="Google Shape;35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1976" y="2792082"/>
            <a:ext cx="1163838" cy="405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2082" y="1316276"/>
            <a:ext cx="1556304" cy="3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5738" y="2034497"/>
            <a:ext cx="1556315" cy="4059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/>
          <p:nvPr/>
        </p:nvSpPr>
        <p:spPr>
          <a:xfrm>
            <a:off x="313329" y="2737075"/>
            <a:ext cx="48318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436278" y="2837794"/>
            <a:ext cx="2009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0% FTE Developer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idx="2" type="body"/>
          </p:nvPr>
        </p:nvSpPr>
        <p:spPr>
          <a:xfrm>
            <a:off x="313335" y="247724"/>
            <a:ext cx="48318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272A35"/>
              </a:buClr>
              <a:buSzPts val="800"/>
              <a:buNone/>
            </a:pPr>
            <a:r>
              <a:rPr lang="en" sz="1100"/>
              <a:t>Product Overview</a:t>
            </a:r>
            <a:endParaRPr sz="1100"/>
          </a:p>
        </p:txBody>
      </p:sp>
      <p:sp>
        <p:nvSpPr>
          <p:cNvPr id="360" name="Google Shape;360;p36"/>
          <p:cNvSpPr txBox="1"/>
          <p:nvPr/>
        </p:nvSpPr>
        <p:spPr>
          <a:xfrm>
            <a:off x="376175" y="712250"/>
            <a:ext cx="33966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19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Modeled Example Flexibility</a:t>
            </a:r>
            <a:endParaRPr sz="300"/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58" y="4927930"/>
            <a:ext cx="9146559" cy="24041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/>
          <p:nvPr/>
        </p:nvSpPr>
        <p:spPr>
          <a:xfrm>
            <a:off x="358288" y="2691500"/>
            <a:ext cx="33966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464790" y="2770300"/>
            <a:ext cx="26355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Policy to govern it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358287" y="1908575"/>
            <a:ext cx="33966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6"/>
          <p:cNvSpPr txBox="1"/>
          <p:nvPr/>
        </p:nvSpPr>
        <p:spPr>
          <a:xfrm>
            <a:off x="419513" y="1988075"/>
            <a:ext cx="3309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we are governing 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332764" y="3430850"/>
            <a:ext cx="33966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455712" y="3525695"/>
            <a:ext cx="32151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corresponding arranger mapping 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5218401" y="712250"/>
            <a:ext cx="38436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A35"/>
              </a:buClr>
              <a:buSzPts val="2700"/>
              <a:buFont typeface="Arial"/>
              <a:buNone/>
            </a:pPr>
            <a:r>
              <a:rPr b="1" lang="en" sz="19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Modeled Examples </a:t>
            </a:r>
            <a:r>
              <a:rPr b="1" lang="en" sz="1900">
                <a:solidFill>
                  <a:srgbClr val="272A35"/>
                </a:solidFill>
                <a:latin typeface="Lato"/>
                <a:ea typeface="Lato"/>
                <a:cs typeface="Lato"/>
                <a:sym typeface="Lato"/>
              </a:rPr>
              <a:t>Sustainability</a:t>
            </a:r>
            <a:endParaRPr sz="300"/>
          </a:p>
        </p:txBody>
      </p:sp>
      <p:sp>
        <p:nvSpPr>
          <p:cNvPr id="369" name="Google Shape;369;p36"/>
          <p:cNvSpPr/>
          <p:nvPr/>
        </p:nvSpPr>
        <p:spPr>
          <a:xfrm>
            <a:off x="5441900" y="1954138"/>
            <a:ext cx="3396600" cy="543900"/>
          </a:xfrm>
          <a:prstGeom prst="roundRect">
            <a:avLst>
              <a:gd fmla="val 50000" name="adj"/>
            </a:avLst>
          </a:prstGeom>
          <a:solidFill>
            <a:srgbClr val="B6BCC2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503121" y="2033638"/>
            <a:ext cx="2680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Admin UI Design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441900" y="1214788"/>
            <a:ext cx="33966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>
            <a:noFill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5503121" y="1294288"/>
            <a:ext cx="26808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 Stories from iMS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376187" y="1165250"/>
            <a:ext cx="3396600" cy="543900"/>
          </a:xfrm>
          <a:prstGeom prst="roundRect">
            <a:avLst>
              <a:gd fmla="val 50000" name="adj"/>
            </a:avLst>
          </a:prstGeom>
          <a:solidFill>
            <a:srgbClr val="003055"/>
          </a:solidFill>
          <a:ln cap="flat" cmpd="sng" w="9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437413" y="1244750"/>
            <a:ext cx="3309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375" lIns="89375" spcFirstLastPara="1" rIns="89375" wrap="square" tIns="8937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Specific problem being solved</a:t>
            </a:r>
            <a:endParaRPr b="1" sz="136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3862325" y="1908575"/>
            <a:ext cx="982500" cy="2084700"/>
          </a:xfrm>
          <a:prstGeom prst="roundRect">
            <a:avLst>
              <a:gd fmla="val 19809" name="adj"/>
            </a:avLst>
          </a:prstGeom>
          <a:solidFill>
            <a:srgbClr val="003055"/>
          </a:solidFill>
          <a:ln cap="flat" cmpd="sng" w="9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5871" rotWithShape="0" algn="bl" dir="5400000" dist="18624">
              <a:srgbClr val="000000">
                <a:alpha val="50000"/>
              </a:srgbClr>
            </a:outerShdw>
          </a:effectLst>
        </p:spPr>
        <p:txBody>
          <a:bodyPr anchorCtr="0" anchor="ctr" bIns="89375" lIns="89375" spcFirstLastPara="1" rIns="89375" wrap="square" tIns="8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b="1" sz="96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